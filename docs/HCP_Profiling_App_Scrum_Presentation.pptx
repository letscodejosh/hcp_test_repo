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team and stakeholders. Today we present the complete Scrum Review for the HCP Profiling App, structured around our 3 core keypoints: Past Updates (retrieving our versioning documentation and foundations), Present Updates (the live applied functionality and features across V.0.4.3 through V.0.4.6), and Future Updates (the 8 essential mobile workflow enhancements for upcoming sprints).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Table of Contents is organized into 4 distinct sections. Section 1 establishes our executive alignment and introduces the 3 Core Keypoints framework. In Section 2, we review Past Updates from V.0.1.0 to V.0.4.2. In Section 3, we demonstrate Present Updates in our active V.0.4.6 release, detailing how we eliminated deletion risks to allow continuous modify &amp; resubmit, resolved SFE workflow permissions, isolated rejection notes, and unlocked pending facility profiling. Finally, in Section 4, we examine our Future Roadmap covering all 8 field enhancements, followed by our live demonstration script and sprint retrospective.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agenda captures our complete trajectory: Keypoint 1 reviews past versions from V.0.1.0 to V.0.4.2. Keypoint 2 showcases the applied features of the active V.0.4.6 release, specifically our zero-deletion guarantee for added institutions, SFE role alignment, rejection note isolation, and dynamic approval notes. Keypoint 3 details the 8 specific field enhancements requested for future sprints.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historical slide documents the engineering trajectory of the HCP Profiling App: V.0.1.0 established core integration; V.0.2 series introduced the institution approval engine, PSGC hierarchy, and DSM territory scoping; V.0.3 series introduced dynamic approval notes and duplicate auto-fill; and V.0.4 series delivered the master institution directory with SFE admin parity.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past workflow alignment solved field friction: if a doctor already exists in our masterlist, MedReps don't wait for managers—it transitions to Processed instantly. But if it's a completely new doctor, it safely diverts to Pending Approval for DSM review, protecting our database from invalid or duplicate entries.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where we are today in V.0.4.6 (Build 17). We achieved 0 compilation errors across the codebase. Most importantly, we enforced a zero-deletion policy: MedReps can continuously modify and resubmit rejected facilities without risk of accidental data deletion. We also resolved SFE workflow permissions on ERPNext, isolated rejection notes, and fully unlocked pending institution profiling with dynamic notes.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highlights our two major backend and workflow hardening updates: In V.0.4.6, we eliminated the discard and deletion options for proposed institutions, ensuring MedReps can continuously modify and resubmit without data loss. In V.0.4.5, we fixed the ERPNext workflow role mismatch that caused rejection failures, ensuring seamless approval and rejection across all manager personas.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8, we review our DocType status parity and dynamic approval note workflow. MedReps can immediately select and profile doctors using newly proposed institutions under the clear visual indicator 'this institution is not yet approved'. When the SFE Specialist approves it, the note dynamically flips to 'this institution is now approved'. Our collapsible search filter engine makes managing 3,990+ facilities effortless.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first 4 future enhancements: First, re-ordering the tabs so Consent is last (Doctor Info -&gt; Questionnaire -&gt; Consent). Second, hiding the Others tab to clean up the interface. Third, making Geolocation always active for continuous location awareness. Fourth, adding a clear legend of mandatory fields in Doctor's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remaining 4 future enhancements: Fifth, making Specialization and Workplace mandatory with red asterisks (*). Sixth, adding a pop-up modal listing exactly what fields are lacking before submission. Seventh, real-time duplicate detection across PRC licenses and names. Eighth, moving the Changes audit history directly below the Consent section.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exact test credentials configured on our server. During your presentation, you can run through these 5 quick steps. In under 4 minutes, your audience will see the search filter in action, the instant processing of existing doctors, the new continuous modify &amp; resubmit flow without deletion, and the SFE Specialist facility approval.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In the past, we laid down clean data architecture and eliminated profiling bottlenecks across versions V.0.1.0 through V.0.4.2. In the present V.0.4.6 release, we enforced a zero-deletion policy with continuous modify and resubmit, aligned SFE workflow permissions, isolated rejection remarks, and verified clean builds with 0 compiler errors. And in the future, we will implement the 8 requested mobile enhancements. Thank you for your continued partnership.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822960"/>
            <a:ext cx="9997135" cy="5212080"/>
          </a:xfrm>
          <a:prstGeom prst="roundRect">
            <a:avLst/>
          </a:prstGeom>
          <a:solidFill>
            <a:srgbClr val="18263B"/>
          </a:solidFill>
          <a:ln w="15240">
            <a:solidFill>
              <a:srgbClr val="00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188720"/>
            <a:ext cx="8869680" cy="4389120"/>
          </a:xfrm>
          <a:prstGeom prst="rect">
            <a:avLst/>
          </a:prstGeom>
          <a:noFill/>
        </p:spPr>
        <p:txBody>
          <a:bodyPr wrap="square">
            <a:spAutoFit/>
          </a:bodyPr>
          <a:lstStyle/>
          <a:p>
            <a:pPr>
              <a:defRPr sz="1300" b="1">
                <a:solidFill>
                  <a:srgbClr val="38BDF8"/>
                </a:solidFill>
              </a:defRPr>
            </a:pPr>
            <a:r>
              <a:t>HEALTHCARE PROFESSIONAL (HCP) PROFILING APP</a:t>
            </a:r>
          </a:p>
          <a:p>
            <a:pPr>
              <a:spcBef>
                <a:spcPts val="600"/>
              </a:spcBef>
              <a:spcAft>
                <a:spcPts val="1400"/>
              </a:spcAft>
              <a:defRPr sz="3000" b="1">
                <a:solidFill>
                  <a:srgbClr val="FFFFFF"/>
                </a:solidFill>
              </a:defRPr>
            </a:pPr>
            <a:r>
              <a:t>Scrum Review &amp; Lifecycle Roadmap</a:t>
            </a:r>
          </a:p>
          <a:p>
            <a:pPr>
              <a:spcAft>
                <a:spcPts val="2200"/>
              </a:spcAft>
              <a:defRPr sz="1500">
                <a:solidFill>
                  <a:srgbClr val="F59E0B"/>
                </a:solidFill>
              </a:defRPr>
            </a:pPr>
            <a:r>
              <a:t>A Complete Discussion Across 3 Keypoints: Past Evolution, Present Features, and Future Enhancements</a:t>
            </a:r>
          </a:p>
          <a:p>
            <a:pPr>
              <a:spcAft>
                <a:spcPts val="1400"/>
              </a:spcAft>
              <a:defRPr sz="1150" b="1">
                <a:solidFill>
                  <a:srgbClr val="10B981"/>
                </a:solidFill>
              </a:defRPr>
            </a:pPr>
            <a:r>
              <a:t>• Active Release: V.0.4.6 (Build 17)    • Target ERPNext: v15 Multi-Tenant    • Database: Offline SQLite Engine</a:t>
            </a:r>
          </a:p>
          <a:p>
            <a:pPr>
              <a:defRPr sz="1100">
                <a:solidFill>
                  <a:srgbClr val="E2E8F0"/>
                </a:solidFill>
              </a:defRPr>
            </a:pPr>
            <a:r>
              <a:t>Target Roles: Medical Representatives (MedRep)  |  District Sales Managers (DSM)  |  SFE Specialists  |  Admins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a:spAutoFit/>
          </a:bodyPr>
          <a:lstStyle/>
          <a:p>
            <a:pPr>
              <a:defRPr sz="950" b="1">
                <a:solidFill>
                  <a:srgbClr val="38BDF8"/>
                </a:solidFill>
              </a:defRPr>
            </a:pPr>
            <a:r>
              <a:t>EXECUTIVE SCOPE</a:t>
            </a:r>
          </a:p>
        </p:txBody>
      </p:sp>
      <p:sp>
        <p:nvSpPr>
          <p:cNvPr id="5" name="TextBox 4"/>
          <p:cNvSpPr txBox="1"/>
          <p:nvPr/>
        </p:nvSpPr>
        <p:spPr>
          <a:xfrm>
            <a:off x="731520" y="594360"/>
            <a:ext cx="10515600" cy="594360"/>
          </a:xfrm>
          <a:prstGeom prst="rect">
            <a:avLst/>
          </a:prstGeom>
          <a:noFill/>
        </p:spPr>
        <p:txBody>
          <a:bodyPr wrap="square">
            <a:spAutoFit/>
          </a:bodyPr>
          <a:lstStyle/>
          <a:p>
            <a:pPr>
              <a:defRPr sz="2200" b="1">
                <a:solidFill>
                  <a:srgbClr val="FFFFFF"/>
                </a:solidFill>
              </a:defRPr>
            </a:pPr>
            <a:r>
              <a:t>Table of Contents: Structural Agenda</a:t>
            </a:r>
          </a:p>
        </p:txBody>
      </p:sp>
      <p:sp>
        <p:nvSpPr>
          <p:cNvPr id="6" name="TextBox 5"/>
          <p:cNvSpPr txBox="1"/>
          <p:nvPr/>
        </p:nvSpPr>
        <p:spPr>
          <a:xfrm>
            <a:off x="731520" y="1188720"/>
            <a:ext cx="10515600" cy="365760"/>
          </a:xfrm>
          <a:prstGeom prst="rect">
            <a:avLst/>
          </a:prstGeom>
          <a:noFill/>
        </p:spPr>
        <p:txBody>
          <a:bodyPr wrap="square">
            <a:spAutoFit/>
          </a:bodyPr>
          <a:lstStyle/>
          <a:p>
            <a:pPr>
              <a:defRPr sz="1200">
                <a:solidFill>
                  <a:srgbClr val="94A3B8"/>
                </a:solidFill>
              </a:defRPr>
            </a:pPr>
            <a:r>
              <a:t>Four thematic sections guiding the Scrum Sprint Review and strategic discussion</a:t>
            </a:r>
          </a:p>
        </p:txBody>
      </p:sp>
      <p:sp>
        <p:nvSpPr>
          <p:cNvPr id="7" name="Rounded Rectangle 6"/>
          <p:cNvSpPr/>
          <p:nvPr/>
        </p:nvSpPr>
        <p:spPr>
          <a:xfrm>
            <a:off x="731520" y="1737360"/>
            <a:ext cx="2514600" cy="4480560"/>
          </a:xfrm>
          <a:prstGeom prst="roundRect">
            <a:avLst/>
          </a:prstGeom>
          <a:solidFill>
            <a:srgbClr val="18263B"/>
          </a:solidFill>
          <a:ln w="15240">
            <a:solidFill>
              <a:srgbClr val="00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19"/>
            <a:ext cx="2240280" cy="4206240"/>
          </a:xfrm>
          <a:prstGeom prst="rect">
            <a:avLst/>
          </a:prstGeom>
          <a:noFill/>
        </p:spPr>
        <p:txBody>
          <a:bodyPr wrap="square">
            <a:spAutoFit/>
          </a:bodyPr>
          <a:lstStyle/>
          <a:p>
            <a:pPr>
              <a:defRPr sz="1150" b="1">
                <a:solidFill>
                  <a:srgbClr val="0066FF"/>
                </a:solidFill>
              </a:defRPr>
            </a:pPr>
            <a:r>
              <a:t>SECTION 1: EXECUTIVE SCOPE</a:t>
            </a:r>
          </a:p>
          <a:p>
            <a:pPr>
              <a:spcAft>
                <a:spcPts val="1200"/>
              </a:spcAft>
              <a:defRPr sz="950">
                <a:solidFill>
                  <a:srgbClr val="94A3B8"/>
                </a:solidFill>
              </a:defRPr>
            </a:pPr>
            <a:r>
              <a:t>Slides 1 - 3</a:t>
            </a:r>
          </a:p>
          <a:p>
            <a:pPr>
              <a:spcAft>
                <a:spcPts val="800"/>
              </a:spcAft>
              <a:defRPr sz="1000">
                <a:solidFill>
                  <a:srgbClr val="E2E8F0"/>
                </a:solidFill>
              </a:defRPr>
            </a:pPr>
            <a:r>
              <a:t>• Executive Alignment &amp; Strategic Framework</a:t>
            </a:r>
          </a:p>
          <a:p>
            <a:pPr>
              <a:spcAft>
                <a:spcPts val="800"/>
              </a:spcAft>
              <a:defRPr sz="1000">
                <a:solidFill>
                  <a:srgbClr val="E2E8F0"/>
                </a:solidFill>
              </a:defRPr>
            </a:pPr>
            <a:r>
              <a:t>• Project Objectives &amp; Operational Boundaries</a:t>
            </a:r>
          </a:p>
          <a:p>
            <a:pPr>
              <a:spcAft>
                <a:spcPts val="800"/>
              </a:spcAft>
              <a:defRPr sz="1000">
                <a:solidFill>
                  <a:srgbClr val="E2E8F0"/>
                </a:solidFill>
              </a:defRPr>
            </a:pPr>
            <a:r>
              <a:t>• The 3 Core Keypoints Overview</a:t>
            </a:r>
          </a:p>
        </p:txBody>
      </p:sp>
      <p:sp>
        <p:nvSpPr>
          <p:cNvPr id="9" name="Rounded Rectangle 8"/>
          <p:cNvSpPr/>
          <p:nvPr/>
        </p:nvSpPr>
        <p:spPr>
          <a:xfrm>
            <a:off x="3474720" y="1737360"/>
            <a:ext cx="2514600" cy="4480560"/>
          </a:xfrm>
          <a:prstGeom prst="roundRect">
            <a:avLst/>
          </a:prstGeom>
          <a:solidFill>
            <a:srgbClr val="1826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79" y="1874519"/>
            <a:ext cx="2240280" cy="4206240"/>
          </a:xfrm>
          <a:prstGeom prst="rect">
            <a:avLst/>
          </a:prstGeom>
          <a:noFill/>
        </p:spPr>
        <p:txBody>
          <a:bodyPr wrap="square">
            <a:spAutoFit/>
          </a:bodyPr>
          <a:lstStyle/>
          <a:p>
            <a:pPr>
              <a:defRPr sz="1150" b="1">
                <a:solidFill>
                  <a:srgbClr val="38BDF8"/>
                </a:solidFill>
              </a:defRPr>
            </a:pPr>
            <a:r>
              <a:t>SECTION 2: KEYPOINT 1 (PAST)</a:t>
            </a:r>
          </a:p>
          <a:p>
            <a:pPr>
              <a:spcAft>
                <a:spcPts val="1200"/>
              </a:spcAft>
              <a:defRPr sz="950">
                <a:solidFill>
                  <a:srgbClr val="94A3B8"/>
                </a:solidFill>
              </a:defRPr>
            </a:pPr>
            <a:r>
              <a:t>Slides 4 - 5</a:t>
            </a:r>
          </a:p>
          <a:p>
            <a:pPr>
              <a:spcAft>
                <a:spcPts val="800"/>
              </a:spcAft>
              <a:defRPr sz="1000">
                <a:solidFill>
                  <a:srgbClr val="E2E8F0"/>
                </a:solidFill>
              </a:defRPr>
            </a:pPr>
            <a:r>
              <a:t>• Versioning History (V.0.1.0 - V.0.4.2)</a:t>
            </a:r>
          </a:p>
          <a:p>
            <a:pPr>
              <a:spcAft>
                <a:spcPts val="800"/>
              </a:spcAft>
              <a:defRPr sz="1000">
                <a:solidFill>
                  <a:srgbClr val="E2E8F0"/>
                </a:solidFill>
              </a:defRPr>
            </a:pPr>
            <a:r>
              <a:t>• Two-Tier Masterlist Architecture</a:t>
            </a:r>
          </a:p>
          <a:p>
            <a:pPr>
              <a:spcAft>
                <a:spcPts val="800"/>
              </a:spcAft>
              <a:defRPr sz="1000">
                <a:solidFill>
                  <a:srgbClr val="E2E8F0"/>
                </a:solidFill>
              </a:defRPr>
            </a:pPr>
            <a:r>
              <a:t>• Dual-Track Doctor Profiling Onboarding</a:t>
            </a:r>
          </a:p>
        </p:txBody>
      </p:sp>
      <p:sp>
        <p:nvSpPr>
          <p:cNvPr id="11" name="Rounded Rectangle 10"/>
          <p:cNvSpPr/>
          <p:nvPr/>
        </p:nvSpPr>
        <p:spPr>
          <a:xfrm>
            <a:off x="6217920" y="1737360"/>
            <a:ext cx="2514600" cy="4480560"/>
          </a:xfrm>
          <a:prstGeom prst="roundRect">
            <a:avLst/>
          </a:prstGeom>
          <a:solidFill>
            <a:srgbClr val="18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874519"/>
            <a:ext cx="2240280" cy="4206240"/>
          </a:xfrm>
          <a:prstGeom prst="rect">
            <a:avLst/>
          </a:prstGeom>
          <a:noFill/>
        </p:spPr>
        <p:txBody>
          <a:bodyPr wrap="square">
            <a:spAutoFit/>
          </a:bodyPr>
          <a:lstStyle/>
          <a:p>
            <a:pPr>
              <a:defRPr sz="1150" b="1">
                <a:solidFill>
                  <a:srgbClr val="10B981"/>
                </a:solidFill>
              </a:defRPr>
            </a:pPr>
            <a:r>
              <a:t>SECTION 3: KEYPOINT 2 (PRESENT)</a:t>
            </a:r>
          </a:p>
          <a:p>
            <a:pPr>
              <a:spcAft>
                <a:spcPts val="1200"/>
              </a:spcAft>
              <a:defRPr sz="950">
                <a:solidFill>
                  <a:srgbClr val="94A3B8"/>
                </a:solidFill>
              </a:defRPr>
            </a:pPr>
            <a:r>
              <a:t>Slides 6 - 8</a:t>
            </a:r>
          </a:p>
          <a:p>
            <a:pPr>
              <a:spcAft>
                <a:spcPts val="800"/>
              </a:spcAft>
              <a:defRPr sz="1000">
                <a:solidFill>
                  <a:srgbClr val="E2E8F0"/>
                </a:solidFill>
              </a:defRPr>
            </a:pPr>
            <a:r>
              <a:t>• Active Release V.0.4.6 (Build 17) Applied Features</a:t>
            </a:r>
          </a:p>
          <a:p>
            <a:pPr>
              <a:spcAft>
                <a:spcPts val="800"/>
              </a:spcAft>
              <a:defRPr sz="1000">
                <a:solidFill>
                  <a:srgbClr val="E2E8F0"/>
                </a:solidFill>
              </a:defRPr>
            </a:pPr>
            <a:r>
              <a:t>• Institution Non-Deletion &amp; Continuous Resubmit</a:t>
            </a:r>
          </a:p>
          <a:p>
            <a:pPr>
              <a:spcAft>
                <a:spcPts val="800"/>
              </a:spcAft>
              <a:defRPr sz="1000">
                <a:solidFill>
                  <a:srgbClr val="E2E8F0"/>
                </a:solidFill>
              </a:defRPr>
            </a:pPr>
            <a:r>
              <a:t>• SFE Role Alignment, Rejection Isolation &amp; Dynamic Notes</a:t>
            </a:r>
          </a:p>
        </p:txBody>
      </p:sp>
      <p:sp>
        <p:nvSpPr>
          <p:cNvPr id="13" name="Rounded Rectangle 12"/>
          <p:cNvSpPr/>
          <p:nvPr/>
        </p:nvSpPr>
        <p:spPr>
          <a:xfrm>
            <a:off x="8961120" y="1737360"/>
            <a:ext cx="2514600" cy="4480560"/>
          </a:xfrm>
          <a:prstGeom prst="roundRect">
            <a:avLst/>
          </a:prstGeom>
          <a:solidFill>
            <a:srgbClr val="1826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874519"/>
            <a:ext cx="2240280" cy="4206240"/>
          </a:xfrm>
          <a:prstGeom prst="rect">
            <a:avLst/>
          </a:prstGeom>
          <a:noFill/>
        </p:spPr>
        <p:txBody>
          <a:bodyPr wrap="square">
            <a:spAutoFit/>
          </a:bodyPr>
          <a:lstStyle/>
          <a:p>
            <a:pPr>
              <a:defRPr sz="1150" b="1">
                <a:solidFill>
                  <a:srgbClr val="F59E0B"/>
                </a:solidFill>
              </a:defRPr>
            </a:pPr>
            <a:r>
              <a:t>SECTION 4: KEYPOINT 3 (FUTURE)</a:t>
            </a:r>
          </a:p>
          <a:p>
            <a:pPr>
              <a:spcAft>
                <a:spcPts val="1200"/>
              </a:spcAft>
              <a:defRPr sz="950">
                <a:solidFill>
                  <a:srgbClr val="94A3B8"/>
                </a:solidFill>
              </a:defRPr>
            </a:pPr>
            <a:r>
              <a:t>Slides 9 - 12</a:t>
            </a:r>
          </a:p>
          <a:p>
            <a:pPr>
              <a:spcAft>
                <a:spcPts val="800"/>
              </a:spcAft>
              <a:defRPr sz="1000">
                <a:solidFill>
                  <a:srgbClr val="E2E8F0"/>
                </a:solidFill>
              </a:defRPr>
            </a:pPr>
            <a:r>
              <a:t>• The 8 Mobile UI &amp; Quality Enhancements</a:t>
            </a:r>
          </a:p>
          <a:p>
            <a:pPr>
              <a:spcAft>
                <a:spcPts val="800"/>
              </a:spcAft>
              <a:defRPr sz="1000">
                <a:solidFill>
                  <a:srgbClr val="E2E8F0"/>
                </a:solidFill>
              </a:defRPr>
            </a:pPr>
            <a:r>
              <a:t>• Live Demonstration Script &amp; Server Credentials</a:t>
            </a:r>
          </a:p>
          <a:p>
            <a:pPr>
              <a:spcAft>
                <a:spcPts val="800"/>
              </a:spcAft>
              <a:defRPr sz="1000">
                <a:solidFill>
                  <a:srgbClr val="E2E8F0"/>
                </a:solidFill>
              </a:defRPr>
            </a:pPr>
            <a:r>
              <a:t>• Retrospective Summary Matrix &amp; Retrospective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a:spAutoFit/>
          </a:bodyPr>
          <a:lstStyle/>
          <a:p>
            <a:pPr>
              <a:defRPr sz="950" b="1">
                <a:solidFill>
                  <a:srgbClr val="38BDF8"/>
                </a:solidFill>
              </a:defRPr>
            </a:pPr>
            <a:r>
              <a:t>EXECUTIVE SCOPE</a:t>
            </a:r>
          </a:p>
        </p:txBody>
      </p:sp>
      <p:sp>
        <p:nvSpPr>
          <p:cNvPr id="5" name="TextBox 4"/>
          <p:cNvSpPr txBox="1"/>
          <p:nvPr/>
        </p:nvSpPr>
        <p:spPr>
          <a:xfrm>
            <a:off x="731520" y="594360"/>
            <a:ext cx="10515600" cy="594360"/>
          </a:xfrm>
          <a:prstGeom prst="rect">
            <a:avLst/>
          </a:prstGeom>
          <a:noFill/>
        </p:spPr>
        <p:txBody>
          <a:bodyPr wrap="square">
            <a:spAutoFit/>
          </a:bodyPr>
          <a:lstStyle/>
          <a:p>
            <a:pPr>
              <a:defRPr sz="2200" b="1">
                <a:solidFill>
                  <a:srgbClr val="FFFFFF"/>
                </a:solidFill>
              </a:defRPr>
            </a:pPr>
            <a:r>
              <a:t>Executive Agenda: The 3 Core Keypoints</a:t>
            </a:r>
          </a:p>
        </p:txBody>
      </p:sp>
      <p:sp>
        <p:nvSpPr>
          <p:cNvPr id="6" name="TextBox 5"/>
          <p:cNvSpPr txBox="1"/>
          <p:nvPr/>
        </p:nvSpPr>
        <p:spPr>
          <a:xfrm>
            <a:off x="731520" y="1188720"/>
            <a:ext cx="10515600" cy="365760"/>
          </a:xfrm>
          <a:prstGeom prst="rect">
            <a:avLst/>
          </a:prstGeom>
          <a:noFill/>
        </p:spPr>
        <p:txBody>
          <a:bodyPr wrap="square">
            <a:spAutoFit/>
          </a:bodyPr>
          <a:lstStyle/>
          <a:p>
            <a:pPr>
              <a:defRPr sz="1200">
                <a:solidFill>
                  <a:srgbClr val="94A3B8"/>
                </a:solidFill>
              </a:defRPr>
            </a:pPr>
            <a:r>
              <a:t>High-level strategic briefing across the three project lifecycle horizons</a:t>
            </a:r>
          </a:p>
        </p:txBody>
      </p:sp>
      <p:sp>
        <p:nvSpPr>
          <p:cNvPr id="7" name="Rounded Rectangle 6"/>
          <p:cNvSpPr/>
          <p:nvPr/>
        </p:nvSpPr>
        <p:spPr>
          <a:xfrm>
            <a:off x="731520" y="1737360"/>
            <a:ext cx="3413455" cy="4480560"/>
          </a:xfrm>
          <a:prstGeom prst="roundRect">
            <a:avLst/>
          </a:prstGeom>
          <a:solidFill>
            <a:srgbClr val="18263B"/>
          </a:solidFill>
          <a:ln w="15240">
            <a:solidFill>
              <a:srgbClr val="00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19"/>
            <a:ext cx="3139135" cy="4206240"/>
          </a:xfrm>
          <a:prstGeom prst="rect">
            <a:avLst/>
          </a:prstGeom>
          <a:noFill/>
        </p:spPr>
        <p:txBody>
          <a:bodyPr wrap="square">
            <a:spAutoFit/>
          </a:bodyPr>
          <a:lstStyle/>
          <a:p>
            <a:pPr>
              <a:defRPr sz="1300" b="1">
                <a:solidFill>
                  <a:srgbClr val="0066FF"/>
                </a:solidFill>
              </a:defRPr>
            </a:pPr>
            <a:r>
              <a:t>KEYPOINT 1: PAST UPDATES</a:t>
            </a:r>
          </a:p>
          <a:p>
            <a:pPr>
              <a:spcAft>
                <a:spcPts val="1400"/>
              </a:spcAft>
              <a:defRPr sz="1000">
                <a:solidFill>
                  <a:srgbClr val="94A3B8"/>
                </a:solidFill>
              </a:defRPr>
            </a:pPr>
            <a:r>
              <a:t>Versioning Evolution &amp; Foundations</a:t>
            </a:r>
          </a:p>
          <a:p>
            <a:pPr>
              <a:spcAft>
                <a:spcPts val="1000"/>
              </a:spcAft>
              <a:defRPr sz="1050">
                <a:solidFill>
                  <a:srgbClr val="E2E8F0"/>
                </a:solidFill>
              </a:defRPr>
            </a:pPr>
            <a:r>
              <a:t>• Chronological milestones retrieved from project archives (V.0.1.0 - V.0.4.2).</a:t>
            </a:r>
          </a:p>
          <a:p>
            <a:pPr>
              <a:spcAft>
                <a:spcPts val="1000"/>
              </a:spcAft>
              <a:defRPr sz="1050">
                <a:solidFill>
                  <a:srgbClr val="E2E8F0"/>
                </a:solidFill>
              </a:defRPr>
            </a:pPr>
            <a:r>
              <a:t>• Two-Tier Masterlist (Universal HCP vs Program HCP Account).</a:t>
            </a:r>
          </a:p>
          <a:p>
            <a:pPr>
              <a:spcAft>
                <a:spcPts val="1000"/>
              </a:spcAft>
              <a:defRPr sz="1050">
                <a:solidFill>
                  <a:srgbClr val="E2E8F0"/>
                </a:solidFill>
              </a:defRPr>
            </a:pPr>
            <a:r>
              <a:t>• Dual-Track Onboarding: Instant 0-approval processing for verified doctors.</a:t>
            </a:r>
          </a:p>
          <a:p>
            <a:pPr>
              <a:spcAft>
                <a:spcPts val="1000"/>
              </a:spcAft>
              <a:defRPr sz="1050">
                <a:solidFill>
                  <a:srgbClr val="E2E8F0"/>
                </a:solidFill>
              </a:defRPr>
            </a:pPr>
            <a:r>
              <a:t>• PSGC geographic auto-resolution &amp; territory scoping.</a:t>
            </a:r>
          </a:p>
        </p:txBody>
      </p:sp>
      <p:sp>
        <p:nvSpPr>
          <p:cNvPr id="9" name="Rounded Rectangle 8"/>
          <p:cNvSpPr/>
          <p:nvPr/>
        </p:nvSpPr>
        <p:spPr>
          <a:xfrm>
            <a:off x="4389120" y="1737360"/>
            <a:ext cx="3413455" cy="4480560"/>
          </a:xfrm>
          <a:prstGeom prst="roundRect">
            <a:avLst/>
          </a:prstGeom>
          <a:solidFill>
            <a:srgbClr val="1826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874519"/>
            <a:ext cx="3139135" cy="4206240"/>
          </a:xfrm>
          <a:prstGeom prst="rect">
            <a:avLst/>
          </a:prstGeom>
          <a:noFill/>
        </p:spPr>
        <p:txBody>
          <a:bodyPr wrap="square">
            <a:spAutoFit/>
          </a:bodyPr>
          <a:lstStyle/>
          <a:p>
            <a:pPr>
              <a:defRPr sz="1300" b="1">
                <a:solidFill>
                  <a:srgbClr val="38BDF8"/>
                </a:solidFill>
              </a:defRPr>
            </a:pPr>
            <a:r>
              <a:t>KEYPOINT 2: PRESENT UPDATES</a:t>
            </a:r>
          </a:p>
          <a:p>
            <a:pPr>
              <a:spcAft>
                <a:spcPts val="1400"/>
              </a:spcAft>
              <a:defRPr sz="1000">
                <a:solidFill>
                  <a:srgbClr val="94A3B8"/>
                </a:solidFill>
              </a:defRPr>
            </a:pPr>
            <a:r>
              <a:t>Active V.0.4.6 (Build 17) Applied Features</a:t>
            </a:r>
          </a:p>
          <a:p>
            <a:pPr>
              <a:spcAft>
                <a:spcPts val="1000"/>
              </a:spcAft>
              <a:defRPr sz="1050">
                <a:solidFill>
                  <a:srgbClr val="E2E8F0"/>
                </a:solidFill>
              </a:defRPr>
            </a:pPr>
            <a:r>
              <a:t>• Zero Institution Deletion: Complete removal of discard option; continuous modify &amp; resubmit.</a:t>
            </a:r>
          </a:p>
          <a:p>
            <a:pPr>
              <a:spcAft>
                <a:spcPts val="1000"/>
              </a:spcAft>
              <a:defRPr sz="1050">
                <a:solidFill>
                  <a:srgbClr val="E2E8F0"/>
                </a:solidFill>
              </a:defRPr>
            </a:pPr>
            <a:r>
              <a:t>• ERPNext Workflow &amp; Role Alignment: Resolved HTTP 417 via SFE role assignment &amp; permissions.</a:t>
            </a:r>
          </a:p>
          <a:p>
            <a:pPr>
              <a:spcAft>
                <a:spcPts val="1000"/>
              </a:spcAft>
              <a:defRPr sz="1050">
                <a:solidFill>
                  <a:srgbClr val="E2E8F0"/>
                </a:solidFill>
              </a:defRPr>
            </a:pPr>
            <a:r>
              <a:t>• Rejection Remarks Isolation: Red notes only appear on truly rejected submissions.</a:t>
            </a:r>
          </a:p>
          <a:p>
            <a:pPr>
              <a:spcAft>
                <a:spcPts val="1000"/>
              </a:spcAft>
              <a:defRPr sz="1050">
                <a:solidFill>
                  <a:srgbClr val="E2E8F0"/>
                </a:solidFill>
              </a:defRPr>
            </a:pPr>
            <a:r>
              <a:t>• Dynamic Approval Notes: Real-time 'not yet approved' -&gt; 'now approved' status parity.</a:t>
            </a:r>
          </a:p>
        </p:txBody>
      </p:sp>
      <p:sp>
        <p:nvSpPr>
          <p:cNvPr id="11" name="Rounded Rectangle 10"/>
          <p:cNvSpPr/>
          <p:nvPr/>
        </p:nvSpPr>
        <p:spPr>
          <a:xfrm>
            <a:off x="8046720" y="1737360"/>
            <a:ext cx="3413455" cy="4480560"/>
          </a:xfrm>
          <a:prstGeom prst="roundRect">
            <a:avLst/>
          </a:prstGeom>
          <a:solidFill>
            <a:srgbClr val="18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1874519"/>
            <a:ext cx="3139135" cy="4206240"/>
          </a:xfrm>
          <a:prstGeom prst="rect">
            <a:avLst/>
          </a:prstGeom>
          <a:noFill/>
        </p:spPr>
        <p:txBody>
          <a:bodyPr wrap="square">
            <a:spAutoFit/>
          </a:bodyPr>
          <a:lstStyle/>
          <a:p>
            <a:pPr>
              <a:defRPr sz="1300" b="1">
                <a:solidFill>
                  <a:srgbClr val="10B981"/>
                </a:solidFill>
              </a:defRPr>
            </a:pPr>
            <a:r>
              <a:t>KEYPOINT 3: FUTURE UPDATES</a:t>
            </a:r>
          </a:p>
          <a:p>
            <a:pPr>
              <a:spcAft>
                <a:spcPts val="1400"/>
              </a:spcAft>
              <a:defRPr sz="1000">
                <a:solidFill>
                  <a:srgbClr val="94A3B8"/>
                </a:solidFill>
              </a:defRPr>
            </a:pPr>
            <a:r>
              <a:t>The 8 Field &amp; Mobile Enhancements</a:t>
            </a:r>
          </a:p>
          <a:p>
            <a:pPr>
              <a:spcAft>
                <a:spcPts val="1000"/>
              </a:spcAft>
              <a:defRPr sz="1050">
                <a:solidFill>
                  <a:srgbClr val="E2E8F0"/>
                </a:solidFill>
              </a:defRPr>
            </a:pPr>
            <a:r>
              <a:t>• Consent positioned last (Doctor Info -&gt; Questionnaire -&gt; Consent).</a:t>
            </a:r>
          </a:p>
          <a:p>
            <a:pPr>
              <a:spcAft>
                <a:spcPts val="1000"/>
              </a:spcAft>
              <a:defRPr sz="1050">
                <a:solidFill>
                  <a:srgbClr val="E2E8F0"/>
                </a:solidFill>
              </a:defRPr>
            </a:pPr>
            <a:r>
              <a:t>• Others tab hidden &amp; Always-active background GPS.</a:t>
            </a:r>
          </a:p>
          <a:p>
            <a:pPr>
              <a:spcAft>
                <a:spcPts val="1000"/>
              </a:spcAft>
              <a:defRPr sz="1050">
                <a:solidFill>
                  <a:srgbClr val="E2E8F0"/>
                </a:solidFill>
              </a:defRPr>
            </a:pPr>
            <a:r>
              <a:t>• Mandatory field legend &amp; explicit asterisks (*).</a:t>
            </a:r>
          </a:p>
          <a:p>
            <a:pPr>
              <a:spcAft>
                <a:spcPts val="1000"/>
              </a:spcAft>
              <a:defRPr sz="1050">
                <a:solidFill>
                  <a:srgbClr val="E2E8F0"/>
                </a:solidFill>
              </a:defRPr>
            </a:pPr>
            <a:r>
              <a:t>• Missing fields pop-up modal &amp; Real-time duplicate detection.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a:spAutoFit/>
          </a:bodyPr>
          <a:lstStyle/>
          <a:p>
            <a:pPr>
              <a:defRPr sz="950" b="1">
                <a:solidFill>
                  <a:srgbClr val="38BDF8"/>
                </a:solidFill>
              </a:defRPr>
            </a:pPr>
            <a:r>
              <a:t>KEYPOINT 1: PAST UPDATES (VERSIONING)</a:t>
            </a:r>
          </a:p>
        </p:txBody>
      </p:sp>
      <p:sp>
        <p:nvSpPr>
          <p:cNvPr id="5" name="TextBox 4"/>
          <p:cNvSpPr txBox="1"/>
          <p:nvPr/>
        </p:nvSpPr>
        <p:spPr>
          <a:xfrm>
            <a:off x="731520" y="594360"/>
            <a:ext cx="10515600" cy="594360"/>
          </a:xfrm>
          <a:prstGeom prst="rect">
            <a:avLst/>
          </a:prstGeom>
          <a:noFill/>
        </p:spPr>
        <p:txBody>
          <a:bodyPr wrap="square">
            <a:spAutoFit/>
          </a:bodyPr>
          <a:lstStyle/>
          <a:p>
            <a:pPr>
              <a:defRPr sz="2200" b="1">
                <a:solidFill>
                  <a:srgbClr val="FFFFFF"/>
                </a:solidFill>
              </a:defRPr>
            </a:pPr>
            <a:r>
              <a:t>Past Updates: Versioning Evolution &amp; Documentation</a:t>
            </a:r>
          </a:p>
        </p:txBody>
      </p:sp>
      <p:sp>
        <p:nvSpPr>
          <p:cNvPr id="6" name="TextBox 5"/>
          <p:cNvSpPr txBox="1"/>
          <p:nvPr/>
        </p:nvSpPr>
        <p:spPr>
          <a:xfrm>
            <a:off x="731520" y="1188720"/>
            <a:ext cx="10515600" cy="365760"/>
          </a:xfrm>
          <a:prstGeom prst="rect">
            <a:avLst/>
          </a:prstGeom>
          <a:noFill/>
        </p:spPr>
        <p:txBody>
          <a:bodyPr wrap="square">
            <a:spAutoFit/>
          </a:bodyPr>
          <a:lstStyle/>
          <a:p>
            <a:pPr>
              <a:defRPr sz="1200">
                <a:solidFill>
                  <a:srgbClr val="94A3B8"/>
                </a:solidFill>
              </a:defRPr>
            </a:pPr>
            <a:r>
              <a:t>Historical roadmap milestones retrieved from CHANGELOG.md &amp; release archives</a:t>
            </a:r>
          </a:p>
        </p:txBody>
      </p:sp>
      <p:sp>
        <p:nvSpPr>
          <p:cNvPr id="7" name="Rounded Rectangle 6"/>
          <p:cNvSpPr/>
          <p:nvPr/>
        </p:nvSpPr>
        <p:spPr>
          <a:xfrm>
            <a:off x="731520" y="1737360"/>
            <a:ext cx="2514600" cy="4480560"/>
          </a:xfrm>
          <a:prstGeom prst="roundRect">
            <a:avLst/>
          </a:prstGeom>
          <a:solidFill>
            <a:srgbClr val="18263B"/>
          </a:solidFill>
          <a:ln w="15240">
            <a:solidFill>
              <a:srgbClr val="00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19"/>
            <a:ext cx="2240280" cy="4206240"/>
          </a:xfrm>
          <a:prstGeom prst="rect">
            <a:avLst/>
          </a:prstGeom>
          <a:noFill/>
        </p:spPr>
        <p:txBody>
          <a:bodyPr wrap="square">
            <a:spAutoFit/>
          </a:bodyPr>
          <a:lstStyle/>
          <a:p>
            <a:pPr>
              <a:spcAft>
                <a:spcPts val="1000"/>
              </a:spcAft>
              <a:defRPr sz="1200" b="1">
                <a:solidFill>
                  <a:srgbClr val="0066FF"/>
                </a:solidFill>
              </a:defRPr>
            </a:pPr>
            <a:r>
              <a:t>V.0.1.0: Foundation</a:t>
            </a:r>
          </a:p>
          <a:p>
            <a:pPr>
              <a:spcAft>
                <a:spcPts val="600"/>
              </a:spcAft>
              <a:defRPr sz="950">
                <a:solidFill>
                  <a:srgbClr val="E2E8F0"/>
                </a:solidFill>
              </a:defRPr>
            </a:pPr>
            <a:r>
              <a:t>• Initial Flutter cross-platform architecture interfacing with ERPNext v15 REST API.</a:t>
            </a:r>
          </a:p>
          <a:p>
            <a:pPr>
              <a:spcAft>
                <a:spcPts val="600"/>
              </a:spcAft>
              <a:defRPr sz="950">
                <a:solidFill>
                  <a:srgbClr val="E2E8F0"/>
                </a:solidFill>
              </a:defRPr>
            </a:pPr>
            <a:r>
              <a:t>• Decoupled universal doctor identity into Two-Tier Masterlist (HCP Universal vs HCP Account).</a:t>
            </a:r>
          </a:p>
          <a:p>
            <a:pPr>
              <a:spcAft>
                <a:spcPts val="600"/>
              </a:spcAft>
              <a:defRPr sz="950">
                <a:solidFill>
                  <a:srgbClr val="E2E8F0"/>
                </a:solidFill>
              </a:defRPr>
            </a:pPr>
            <a:r>
              <a:t>• Offline SQLite database (DatabaseHelper) initialization.</a:t>
            </a:r>
          </a:p>
        </p:txBody>
      </p:sp>
      <p:sp>
        <p:nvSpPr>
          <p:cNvPr id="9" name="Rounded Rectangle 8"/>
          <p:cNvSpPr/>
          <p:nvPr/>
        </p:nvSpPr>
        <p:spPr>
          <a:xfrm>
            <a:off x="3474720" y="1737360"/>
            <a:ext cx="2514600" cy="4480560"/>
          </a:xfrm>
          <a:prstGeom prst="roundRect">
            <a:avLst/>
          </a:prstGeom>
          <a:solidFill>
            <a:srgbClr val="1826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79" y="1874519"/>
            <a:ext cx="2240280" cy="4206240"/>
          </a:xfrm>
          <a:prstGeom prst="rect">
            <a:avLst/>
          </a:prstGeom>
          <a:noFill/>
        </p:spPr>
        <p:txBody>
          <a:bodyPr wrap="square">
            <a:spAutoFit/>
          </a:bodyPr>
          <a:lstStyle/>
          <a:p>
            <a:pPr>
              <a:spcAft>
                <a:spcPts val="1000"/>
              </a:spcAft>
              <a:defRPr sz="1200" b="1">
                <a:solidFill>
                  <a:srgbClr val="38BDF8"/>
                </a:solidFill>
              </a:defRPr>
            </a:pPr>
            <a:r>
              <a:t>V.0.2.0 - V.0.2.6: Scoping</a:t>
            </a:r>
          </a:p>
          <a:p>
            <a:pPr>
              <a:spcAft>
                <a:spcPts val="600"/>
              </a:spcAft>
              <a:defRPr sz="950">
                <a:solidFill>
                  <a:srgbClr val="E2E8F0"/>
                </a:solidFill>
              </a:defRPr>
            </a:pPr>
            <a:r>
              <a:t>• V.0.2.0: Add New Institution workflow with SFE Specialist review authority.</a:t>
            </a:r>
          </a:p>
          <a:p>
            <a:pPr>
              <a:spcAft>
                <a:spcPts val="600"/>
              </a:spcAft>
              <a:defRPr sz="950">
                <a:solidFill>
                  <a:srgbClr val="E2E8F0"/>
                </a:solidFill>
              </a:defRPr>
            </a:pPr>
            <a:r>
              <a:t>• V.0.2.1 - V.0.2.3: DSM territory scoping &amp; mandatory rejection reasons.</a:t>
            </a:r>
          </a:p>
          <a:p>
            <a:pPr>
              <a:spcAft>
                <a:spcPts val="600"/>
              </a:spcAft>
              <a:defRPr sz="950">
                <a:solidFill>
                  <a:srgbClr val="E2E8F0"/>
                </a:solidFill>
              </a:defRPr>
            </a:pPr>
            <a:r>
              <a:t>• V.0.2.4 - V.0.2.5: Official PSGC geographic hierarchy (Region, Prov, City).</a:t>
            </a:r>
          </a:p>
          <a:p>
            <a:pPr>
              <a:spcAft>
                <a:spcPts val="600"/>
              </a:spcAft>
              <a:defRPr sz="950">
                <a:solidFill>
                  <a:srgbClr val="E2E8F0"/>
                </a:solidFill>
              </a:defRPr>
            </a:pPr>
            <a:r>
              <a:t>• V.0.2.6: Strict gating (isApprovedForProfiling) blocking unapproved clinics.</a:t>
            </a:r>
          </a:p>
        </p:txBody>
      </p:sp>
      <p:sp>
        <p:nvSpPr>
          <p:cNvPr id="11" name="Rounded Rectangle 10"/>
          <p:cNvSpPr/>
          <p:nvPr/>
        </p:nvSpPr>
        <p:spPr>
          <a:xfrm>
            <a:off x="6217920" y="1737360"/>
            <a:ext cx="2514600" cy="4480560"/>
          </a:xfrm>
          <a:prstGeom prst="roundRect">
            <a:avLst/>
          </a:prstGeom>
          <a:solidFill>
            <a:srgbClr val="18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874519"/>
            <a:ext cx="2240280" cy="4206240"/>
          </a:xfrm>
          <a:prstGeom prst="rect">
            <a:avLst/>
          </a:prstGeom>
          <a:noFill/>
        </p:spPr>
        <p:txBody>
          <a:bodyPr wrap="square">
            <a:spAutoFit/>
          </a:bodyPr>
          <a:lstStyle/>
          <a:p>
            <a:pPr>
              <a:spcAft>
                <a:spcPts val="1000"/>
              </a:spcAft>
              <a:defRPr sz="1200" b="1">
                <a:solidFill>
                  <a:srgbClr val="10B981"/>
                </a:solidFill>
              </a:defRPr>
            </a:pPr>
            <a:r>
              <a:t>V.0.3.0 - V.0.3.1: Notes</a:t>
            </a:r>
          </a:p>
          <a:p>
            <a:pPr>
              <a:spcAft>
                <a:spcPts val="600"/>
              </a:spcAft>
              <a:defRPr sz="950">
                <a:solidFill>
                  <a:srgbClr val="E2E8F0"/>
                </a:solidFill>
              </a:defRPr>
            </a:pPr>
            <a:r>
              <a:t>• V.0.3.0: Introduced dynamic approval status notes on ERPNext and mobile.</a:t>
            </a:r>
          </a:p>
          <a:p>
            <a:pPr>
              <a:spcAft>
                <a:spcPts val="600"/>
              </a:spcAft>
              <a:defRPr sz="950">
                <a:solidFill>
                  <a:srgbClr val="E2E8F0"/>
                </a:solidFill>
              </a:defRPr>
            </a:pPr>
            <a:r>
              <a:t>• Smart predictive search over ~7,000 facilities with duplicate warning banner.</a:t>
            </a:r>
          </a:p>
          <a:p>
            <a:pPr>
              <a:spcAft>
                <a:spcPts val="600"/>
              </a:spcAft>
              <a:defRPr sz="950">
                <a:solidFill>
                  <a:srgbClr val="E2E8F0"/>
                </a:solidFill>
              </a:defRPr>
            </a:pPr>
            <a:r>
              <a:t>• V.0.3.1: Renamed menu to 'Institution Submission' to clarify MedRep roles.</a:t>
            </a:r>
          </a:p>
        </p:txBody>
      </p:sp>
      <p:sp>
        <p:nvSpPr>
          <p:cNvPr id="13" name="Rounded Rectangle 12"/>
          <p:cNvSpPr/>
          <p:nvPr/>
        </p:nvSpPr>
        <p:spPr>
          <a:xfrm>
            <a:off x="8961120" y="1737360"/>
            <a:ext cx="2514600" cy="4480560"/>
          </a:xfrm>
          <a:prstGeom prst="roundRect">
            <a:avLst/>
          </a:prstGeom>
          <a:solidFill>
            <a:srgbClr val="1826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874519"/>
            <a:ext cx="2240280" cy="4206240"/>
          </a:xfrm>
          <a:prstGeom prst="rect">
            <a:avLst/>
          </a:prstGeom>
          <a:noFill/>
        </p:spPr>
        <p:txBody>
          <a:bodyPr wrap="square">
            <a:spAutoFit/>
          </a:bodyPr>
          <a:lstStyle/>
          <a:p>
            <a:pPr>
              <a:spcAft>
                <a:spcPts val="1000"/>
              </a:spcAft>
              <a:defRPr sz="1200" b="1">
                <a:solidFill>
                  <a:srgbClr val="F59E0B"/>
                </a:solidFill>
              </a:defRPr>
            </a:pPr>
            <a:r>
              <a:t>V.0.4.0 - V.0.4.2: Directory</a:t>
            </a:r>
          </a:p>
          <a:p>
            <a:pPr>
              <a:spcAft>
                <a:spcPts val="600"/>
              </a:spcAft>
              <a:defRPr sz="950">
                <a:solidFill>
                  <a:srgbClr val="E2E8F0"/>
                </a:solidFill>
              </a:defRPr>
            </a:pPr>
            <a:r>
              <a:t>• V.0.4.0: Dedicated InstitutionDirectoryScreen matching ERPNext Desk List View.</a:t>
            </a:r>
          </a:p>
          <a:p>
            <a:pPr>
              <a:spcAft>
                <a:spcPts val="600"/>
              </a:spcAft>
              <a:defRPr sz="950">
                <a:solidFill>
                  <a:srgbClr val="E2E8F0"/>
                </a:solidFill>
              </a:defRPr>
            </a:pPr>
            <a:r>
              <a:t>• V.0.4.1: Unified masterlist directory with centered hideable filter.</a:t>
            </a:r>
          </a:p>
          <a:p>
            <a:pPr>
              <a:spcAft>
                <a:spcPts val="600"/>
              </a:spcAft>
              <a:defRPr sz="950">
                <a:solidFill>
                  <a:srgbClr val="E2E8F0"/>
                </a:solidFill>
              </a:defRPr>
            </a:pPr>
            <a:r>
              <a:t>• V.0.4.2: Complete search filter engine parity (= Filter toggle, inline Clear, dynamic count) &amp; restored 3,900+ draft facilities.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a:spAutoFit/>
          </a:bodyPr>
          <a:lstStyle/>
          <a:p>
            <a:pPr>
              <a:defRPr sz="950" b="1">
                <a:solidFill>
                  <a:srgbClr val="38BDF8"/>
                </a:solidFill>
              </a:defRPr>
            </a:pPr>
            <a:r>
              <a:t>KEYPOINT 1: PAST UPDATES (CORE WORKFLOW)</a:t>
            </a:r>
          </a:p>
        </p:txBody>
      </p:sp>
      <p:sp>
        <p:nvSpPr>
          <p:cNvPr id="5" name="TextBox 4"/>
          <p:cNvSpPr txBox="1"/>
          <p:nvPr/>
        </p:nvSpPr>
        <p:spPr>
          <a:xfrm>
            <a:off x="731520" y="594360"/>
            <a:ext cx="10515600" cy="594360"/>
          </a:xfrm>
          <a:prstGeom prst="rect">
            <a:avLst/>
          </a:prstGeom>
          <a:noFill/>
        </p:spPr>
        <p:txBody>
          <a:bodyPr wrap="square">
            <a:spAutoFit/>
          </a:bodyPr>
          <a:lstStyle/>
          <a:p>
            <a:pPr>
              <a:defRPr sz="2200" b="1">
                <a:solidFill>
                  <a:srgbClr val="FFFFFF"/>
                </a:solidFill>
              </a:defRPr>
            </a:pPr>
            <a:r>
              <a:t>Past Updates: Dual-Track Doctor Profiling Workflow</a:t>
            </a:r>
          </a:p>
        </p:txBody>
      </p:sp>
      <p:sp>
        <p:nvSpPr>
          <p:cNvPr id="6" name="TextBox 5"/>
          <p:cNvSpPr txBox="1"/>
          <p:nvPr/>
        </p:nvSpPr>
        <p:spPr>
          <a:xfrm>
            <a:off x="731520" y="1188720"/>
            <a:ext cx="10515600" cy="365760"/>
          </a:xfrm>
          <a:prstGeom prst="rect">
            <a:avLst/>
          </a:prstGeom>
          <a:noFill/>
        </p:spPr>
        <p:txBody>
          <a:bodyPr wrap="square">
            <a:spAutoFit/>
          </a:bodyPr>
          <a:lstStyle/>
          <a:p>
            <a:pPr>
              <a:defRPr sz="1200">
                <a:solidFill>
                  <a:srgbClr val="94A3B8"/>
                </a:solidFill>
              </a:defRPr>
            </a:pPr>
            <a:r>
              <a:t>Matching ERPNext HCP Profile Submission WF directly: 0 bottleneck for existing doctors</a:t>
            </a:r>
          </a:p>
        </p:txBody>
      </p:sp>
      <p:sp>
        <p:nvSpPr>
          <p:cNvPr id="7" name="Rounded Rectangle 6"/>
          <p:cNvSpPr/>
          <p:nvPr/>
        </p:nvSpPr>
        <p:spPr>
          <a:xfrm>
            <a:off x="731520" y="1737360"/>
            <a:ext cx="5120640" cy="4480560"/>
          </a:xfrm>
          <a:prstGeom prst="roundRect">
            <a:avLst/>
          </a:prstGeom>
          <a:solidFill>
            <a:srgbClr val="18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20"/>
            <a:ext cx="4754880" cy="411480"/>
          </a:xfrm>
          <a:prstGeom prst="rect">
            <a:avLst/>
          </a:prstGeom>
          <a:noFill/>
        </p:spPr>
        <p:txBody>
          <a:bodyPr wrap="square">
            <a:spAutoFit/>
          </a:bodyPr>
          <a:lstStyle/>
          <a:p>
            <a:pPr>
              <a:defRPr sz="1300" b="1">
                <a:solidFill>
                  <a:srgbClr val="FFFFFF"/>
                </a:solidFill>
              </a:defRPr>
            </a:pPr>
            <a:r>
              <a:t>Track A: Existing Doctor ('Existing HCP')</a:t>
            </a:r>
          </a:p>
        </p:txBody>
      </p:sp>
      <p:sp>
        <p:nvSpPr>
          <p:cNvPr id="9" name="TextBox 8"/>
          <p:cNvSpPr txBox="1"/>
          <p:nvPr/>
        </p:nvSpPr>
        <p:spPr>
          <a:xfrm>
            <a:off x="914400" y="2286000"/>
            <a:ext cx="4754880" cy="3749039"/>
          </a:xfrm>
          <a:prstGeom prst="rect">
            <a:avLst/>
          </a:prstGeom>
          <a:noFill/>
        </p:spPr>
        <p:txBody>
          <a:bodyPr wrap="square">
            <a:spAutoFit/>
          </a:bodyPr>
          <a:lstStyle/>
          <a:p>
            <a:pPr>
              <a:spcAft>
                <a:spcPts val="800"/>
              </a:spcAft>
            </a:pPr>
            <a:r>
              <a:rPr b="1" sz="1100">
                <a:solidFill>
                  <a:srgbClr val="10B981"/>
                </a:solidFill>
              </a:rPr>
              <a:t>• Selection:</a:t>
            </a:r>
            <a:r>
              <a:rPr sz="1100">
                <a:solidFill>
                  <a:srgbClr val="E2E8F0"/>
                </a:solidFill>
              </a:rPr>
              <a:t> MedRep selects existing doctor from verified national masterlist.</a:t>
            </a:r>
          </a:p>
          <a:p>
            <a:pPr>
              <a:spcAft>
                <a:spcPts val="800"/>
              </a:spcAft>
            </a:pPr>
            <a:r>
              <a:rPr b="1" sz="1100">
                <a:solidFill>
                  <a:srgbClr val="10B981"/>
                </a:solidFill>
              </a:rPr>
              <a:t>• Action Applied:</a:t>
            </a:r>
            <a:r>
              <a:rPr sz="1100">
                <a:solidFill>
                  <a:srgbClr val="E2E8F0"/>
                </a:solidFill>
              </a:rPr>
              <a:t> 'Submit for Processing' (doc.profile_action == 'Existing HCP').</a:t>
            </a:r>
          </a:p>
          <a:p>
            <a:pPr>
              <a:spcAft>
                <a:spcPts val="800"/>
              </a:spcAft>
            </a:pPr>
            <a:r>
              <a:rPr b="1" sz="1100">
                <a:solidFill>
                  <a:srgbClr val="10B981"/>
                </a:solidFill>
              </a:rPr>
              <a:t>• State Transition:</a:t>
            </a:r>
            <a:r>
              <a:rPr sz="1100">
                <a:solidFill>
                  <a:srgbClr val="E2E8F0"/>
                </a:solidFill>
              </a:rPr>
              <a:t> Directly transitions to 'PROCESSED'.</a:t>
            </a:r>
          </a:p>
          <a:p>
            <a:pPr>
              <a:spcAft>
                <a:spcPts val="800"/>
              </a:spcAft>
            </a:pPr>
            <a:r>
              <a:rPr b="1" sz="1100">
                <a:solidFill>
                  <a:srgbClr val="10B981"/>
                </a:solidFill>
              </a:rPr>
              <a:t>• Zero Manager Bottleneck:</a:t>
            </a:r>
            <a:r>
              <a:rPr sz="1100">
                <a:solidFill>
                  <a:srgbClr val="E2E8F0"/>
                </a:solidFill>
              </a:rPr>
              <a:t> REQUIRES NO MANAGERIAL APPROVAL. Eliminates waiting on DSM sign-off for doctors already verified.</a:t>
            </a:r>
          </a:p>
          <a:p>
            <a:pPr>
              <a:spcAft>
                <a:spcPts val="800"/>
              </a:spcAft>
            </a:pPr>
            <a:r>
              <a:rPr b="1" sz="1100">
                <a:solidFill>
                  <a:srgbClr val="10B981"/>
                </a:solidFill>
              </a:rPr>
              <a:t>• Automatic Direct Sync:</a:t>
            </a:r>
            <a:r>
              <a:rPr sz="1100">
                <a:solidFill>
                  <a:srgbClr val="E2E8F0"/>
                </a:solidFill>
              </a:rPr>
              <a:t> Instantly syncs preferred features into HCP Masterlist and links local program HCP Account.</a:t>
            </a:r>
          </a:p>
          <a:p>
            <a:pPr>
              <a:spcAft>
                <a:spcPts val="800"/>
              </a:spcAft>
            </a:pPr>
            <a:r>
              <a:rPr b="1" sz="1100">
                <a:solidFill>
                  <a:srgbClr val="10B981"/>
                </a:solidFill>
              </a:rPr>
              <a:t>• Immediate Detailing:</a:t>
            </a:r>
            <a:r>
              <a:rPr sz="1100">
                <a:solidFill>
                  <a:srgbClr val="E2E8F0"/>
                </a:solidFill>
              </a:rPr>
              <a:t> Rep can immediately begin logging calls and commercial detailing.</a:t>
            </a:r>
          </a:p>
        </p:txBody>
      </p:sp>
      <p:sp>
        <p:nvSpPr>
          <p:cNvPr id="10" name="Rounded Rectangle 9"/>
          <p:cNvSpPr/>
          <p:nvPr/>
        </p:nvSpPr>
        <p:spPr>
          <a:xfrm>
            <a:off x="6309360" y="1737360"/>
            <a:ext cx="5120640" cy="4480560"/>
          </a:xfrm>
          <a:prstGeom prst="roundRect">
            <a:avLst/>
          </a:prstGeom>
          <a:solidFill>
            <a:srgbClr val="1826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74520"/>
            <a:ext cx="4754880" cy="411480"/>
          </a:xfrm>
          <a:prstGeom prst="rect">
            <a:avLst/>
          </a:prstGeom>
          <a:noFill/>
        </p:spPr>
        <p:txBody>
          <a:bodyPr wrap="square">
            <a:spAutoFit/>
          </a:bodyPr>
          <a:lstStyle/>
          <a:p>
            <a:pPr>
              <a:defRPr sz="1300" b="1">
                <a:solidFill>
                  <a:srgbClr val="FFFFFF"/>
                </a:solidFill>
              </a:defRPr>
            </a:pPr>
            <a:r>
              <a:t>Track B: New Doctor ('+ Add New Doctor')</a:t>
            </a:r>
          </a:p>
        </p:txBody>
      </p:sp>
      <p:sp>
        <p:nvSpPr>
          <p:cNvPr id="12" name="TextBox 11"/>
          <p:cNvSpPr txBox="1"/>
          <p:nvPr/>
        </p:nvSpPr>
        <p:spPr>
          <a:xfrm>
            <a:off x="6492240" y="2286000"/>
            <a:ext cx="4754880" cy="3749039"/>
          </a:xfrm>
          <a:prstGeom prst="rect">
            <a:avLst/>
          </a:prstGeom>
          <a:noFill/>
        </p:spPr>
        <p:txBody>
          <a:bodyPr wrap="square">
            <a:spAutoFit/>
          </a:bodyPr>
          <a:lstStyle/>
          <a:p>
            <a:pPr>
              <a:spcAft>
                <a:spcPts val="600"/>
              </a:spcAft>
            </a:pPr>
            <a:r>
              <a:rPr b="1" sz="1100">
                <a:solidFill>
                  <a:srgbClr val="F59E0B"/>
                </a:solidFill>
              </a:rPr>
              <a:t>• Selection:</a:t>
            </a:r>
            <a:r>
              <a:rPr sz="1100">
                <a:solidFill>
                  <a:srgbClr val="E2E8F0"/>
                </a:solidFill>
              </a:rPr>
              <a:t> MedRep enters new doctor details (PRC ID, Name, Specialty, Clinic).</a:t>
            </a:r>
          </a:p>
          <a:p>
            <a:pPr>
              <a:spcAft>
                <a:spcPts val="600"/>
              </a:spcAft>
            </a:pPr>
            <a:r>
              <a:rPr b="1" sz="1100">
                <a:solidFill>
                  <a:srgbClr val="F59E0B"/>
                </a:solidFill>
              </a:rPr>
              <a:t>• Action Applied:</a:t>
            </a:r>
            <a:r>
              <a:rPr sz="1100">
                <a:solidFill>
                  <a:srgbClr val="E2E8F0"/>
                </a:solidFill>
              </a:rPr>
              <a:t> 'Submit for Approval' (doc.profile_action == 'New HCP').</a:t>
            </a:r>
          </a:p>
          <a:p>
            <a:pPr>
              <a:spcAft>
                <a:spcPts val="600"/>
              </a:spcAft>
            </a:pPr>
            <a:r>
              <a:rPr b="1" sz="1100">
                <a:solidFill>
                  <a:srgbClr val="F59E0B"/>
                </a:solidFill>
              </a:rPr>
              <a:t>• State Transition:</a:t>
            </a:r>
            <a:r>
              <a:rPr sz="1100">
                <a:solidFill>
                  <a:srgbClr val="E2E8F0"/>
                </a:solidFill>
              </a:rPr>
              <a:t> Enters 'PENDING APPROVAL' state.</a:t>
            </a:r>
          </a:p>
          <a:p>
            <a:pPr>
              <a:spcAft>
                <a:spcPts val="600"/>
              </a:spcAft>
            </a:pPr>
            <a:r>
              <a:rPr b="1" sz="1100">
                <a:solidFill>
                  <a:srgbClr val="F59E0B"/>
                </a:solidFill>
              </a:rPr>
              <a:t>• Manager Review:</a:t>
            </a:r>
            <a:r>
              <a:rPr sz="1100">
                <a:solidFill>
                  <a:srgbClr val="E2E8F0"/>
                </a:solidFill>
              </a:rPr>
              <a:t> Scoped to District Sales Manager queue for validation.</a:t>
            </a:r>
          </a:p>
          <a:p>
            <a:pPr>
              <a:spcAft>
                <a:spcPts val="600"/>
              </a:spcAft>
            </a:pPr>
            <a:r>
              <a:rPr b="1" sz="1100">
                <a:solidFill>
                  <a:srgbClr val="F59E0B"/>
                </a:solidFill>
              </a:rPr>
              <a:t>• DSM Approval:</a:t>
            </a:r>
            <a:r>
              <a:rPr sz="1100">
                <a:solidFill>
                  <a:srgbClr val="E2E8F0"/>
                </a:solidFill>
              </a:rPr>
              <a:t> DSM clicks 'Approve' -&gt; State: 'APPROVED' -&gt; Merged into Universal HCP Masterlist and local HCP Account.</a:t>
            </a:r>
          </a:p>
          <a:p>
            <a:pPr>
              <a:spcAft>
                <a:spcPts val="600"/>
              </a:spcAft>
            </a:pPr>
            <a:r>
              <a:rPr b="1" sz="1100">
                <a:solidFill>
                  <a:srgbClr val="F59E0B"/>
                </a:solidFill>
              </a:rPr>
              <a:t>• DSM Rejection:</a:t>
            </a:r>
            <a:r>
              <a:rPr sz="1100">
                <a:solidFill>
                  <a:srgbClr val="E2E8F0"/>
                </a:solidFill>
              </a:rPr>
              <a:t> DSM selects rejection reason from taxonomy (e.g. invalid PRC) -&gt; State: 'REJECTED'.</a:t>
            </a:r>
          </a:p>
          <a:p>
            <a:pPr>
              <a:spcAft>
                <a:spcPts val="600"/>
              </a:spcAft>
            </a:pPr>
            <a:r>
              <a:rPr b="1" sz="1100">
                <a:solidFill>
                  <a:srgbClr val="F59E0B"/>
                </a:solidFill>
              </a:rPr>
              <a:t>• MedRep Resubmission:</a:t>
            </a:r>
            <a:r>
              <a:rPr sz="1100">
                <a:solidFill>
                  <a:srgbClr val="E2E8F0"/>
                </a:solidFill>
              </a:rPr>
              <a:t> MedRep receives alert card -&gt; taps 'Edit' -&gt; corrects flagged fields -&gt; resubmits back to Pending Approval.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a:spAutoFit/>
          </a:bodyPr>
          <a:lstStyle/>
          <a:p>
            <a:pPr>
              <a:defRPr sz="950" b="1">
                <a:solidFill>
                  <a:srgbClr val="38BDF8"/>
                </a:solidFill>
              </a:defRPr>
            </a:pPr>
            <a:r>
              <a:t>KEYPOINT 2: PRESENT UPDATES (ACTIVE RELEASE)</a:t>
            </a:r>
          </a:p>
        </p:txBody>
      </p:sp>
      <p:sp>
        <p:nvSpPr>
          <p:cNvPr id="5" name="TextBox 4"/>
          <p:cNvSpPr txBox="1"/>
          <p:nvPr/>
        </p:nvSpPr>
        <p:spPr>
          <a:xfrm>
            <a:off x="731520" y="594360"/>
            <a:ext cx="10515600" cy="594360"/>
          </a:xfrm>
          <a:prstGeom prst="rect">
            <a:avLst/>
          </a:prstGeom>
          <a:noFill/>
        </p:spPr>
        <p:txBody>
          <a:bodyPr wrap="square">
            <a:spAutoFit/>
          </a:bodyPr>
          <a:lstStyle/>
          <a:p>
            <a:pPr>
              <a:defRPr sz="2200" b="1">
                <a:solidFill>
                  <a:srgbClr val="FFFFFF"/>
                </a:solidFill>
              </a:defRPr>
            </a:pPr>
            <a:r>
              <a:t>Present Updates: Active Release V.0.4.6 (Build 17)</a:t>
            </a:r>
          </a:p>
        </p:txBody>
      </p:sp>
      <p:sp>
        <p:nvSpPr>
          <p:cNvPr id="6" name="TextBox 5"/>
          <p:cNvSpPr txBox="1"/>
          <p:nvPr/>
        </p:nvSpPr>
        <p:spPr>
          <a:xfrm>
            <a:off x="731520" y="1188720"/>
            <a:ext cx="10515600" cy="365760"/>
          </a:xfrm>
          <a:prstGeom prst="rect">
            <a:avLst/>
          </a:prstGeom>
          <a:noFill/>
        </p:spPr>
        <p:txBody>
          <a:bodyPr wrap="square">
            <a:spAutoFit/>
          </a:bodyPr>
          <a:lstStyle/>
          <a:p>
            <a:pPr>
              <a:defRPr sz="1200">
                <a:solidFill>
                  <a:srgbClr val="94A3B8"/>
                </a:solidFill>
              </a:defRPr>
            </a:pPr>
            <a:r>
              <a:t>Current sprint applied functionality, verified release binaries, and system health</a:t>
            </a:r>
          </a:p>
        </p:txBody>
      </p:sp>
      <p:sp>
        <p:nvSpPr>
          <p:cNvPr id="7" name="Rounded Rectangle 6"/>
          <p:cNvSpPr/>
          <p:nvPr/>
        </p:nvSpPr>
        <p:spPr>
          <a:xfrm>
            <a:off x="731520" y="1737360"/>
            <a:ext cx="3413455" cy="1554480"/>
          </a:xfrm>
          <a:prstGeom prst="roundRect">
            <a:avLst/>
          </a:prstGeom>
          <a:solidFill>
            <a:srgbClr val="18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3139135" cy="1371600"/>
          </a:xfrm>
          <a:prstGeom prst="rect">
            <a:avLst/>
          </a:prstGeom>
          <a:noFill/>
        </p:spPr>
        <p:txBody>
          <a:bodyPr wrap="square">
            <a:spAutoFit/>
          </a:bodyPr>
          <a:lstStyle/>
          <a:p>
            <a:pPr>
              <a:defRPr sz="2800" b="1">
                <a:solidFill>
                  <a:srgbClr val="10B981"/>
                </a:solidFill>
              </a:defRPr>
            </a:pPr>
            <a:r>
              <a:t>0 Errors</a:t>
            </a:r>
          </a:p>
          <a:p>
            <a:pPr>
              <a:defRPr sz="1150" b="1">
                <a:solidFill>
                  <a:srgbClr val="FFFFFF"/>
                </a:solidFill>
              </a:defRPr>
            </a:pPr>
            <a:r>
              <a:t>Zero Compilation Errors</a:t>
            </a:r>
          </a:p>
          <a:p>
            <a:pPr>
              <a:defRPr sz="950">
                <a:solidFill>
                  <a:srgbClr val="94A3B8"/>
                </a:solidFill>
              </a:defRPr>
            </a:pPr>
            <a:r>
              <a:t>Verified with flutter analyze and flutter test (4/4 test suites passing) with strict static typing.</a:t>
            </a:r>
          </a:p>
        </p:txBody>
      </p:sp>
      <p:sp>
        <p:nvSpPr>
          <p:cNvPr id="9" name="Rounded Rectangle 8"/>
          <p:cNvSpPr/>
          <p:nvPr/>
        </p:nvSpPr>
        <p:spPr>
          <a:xfrm>
            <a:off x="4389120" y="1737360"/>
            <a:ext cx="3413455" cy="1554480"/>
          </a:xfrm>
          <a:prstGeom prst="roundRect">
            <a:avLst/>
          </a:prstGeom>
          <a:solidFill>
            <a:srgbClr val="1826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828800"/>
            <a:ext cx="3139135" cy="1371600"/>
          </a:xfrm>
          <a:prstGeom prst="rect">
            <a:avLst/>
          </a:prstGeom>
          <a:noFill/>
        </p:spPr>
        <p:txBody>
          <a:bodyPr wrap="square">
            <a:spAutoFit/>
          </a:bodyPr>
          <a:lstStyle/>
          <a:p>
            <a:pPr>
              <a:defRPr sz="2800" b="1">
                <a:solidFill>
                  <a:srgbClr val="38BDF8"/>
                </a:solidFill>
              </a:defRPr>
            </a:pPr>
            <a:r>
              <a:t>V.0.4.6</a:t>
            </a:r>
          </a:p>
          <a:p>
            <a:pPr>
              <a:defRPr sz="1150" b="1">
                <a:solidFill>
                  <a:srgbClr val="FFFFFF"/>
                </a:solidFill>
              </a:defRPr>
            </a:pPr>
            <a:r>
              <a:t>Active Semantic Release</a:t>
            </a:r>
          </a:p>
          <a:p>
            <a:pPr>
              <a:defRPr sz="950">
                <a:solidFill>
                  <a:srgbClr val="94A3B8"/>
                </a:solidFill>
              </a:defRPr>
            </a:pPr>
            <a:r>
              <a:t>Build 17 packaged in releases/V.0.4.6/HCP_Profiling_V.0.4.6.apk (56.6 MB) with verified SHA-256.</a:t>
            </a:r>
          </a:p>
        </p:txBody>
      </p:sp>
      <p:sp>
        <p:nvSpPr>
          <p:cNvPr id="11" name="Rounded Rectangle 10"/>
          <p:cNvSpPr/>
          <p:nvPr/>
        </p:nvSpPr>
        <p:spPr>
          <a:xfrm>
            <a:off x="8046720" y="1737360"/>
            <a:ext cx="3413455" cy="1554480"/>
          </a:xfrm>
          <a:prstGeom prst="roundRect">
            <a:avLst/>
          </a:prstGeom>
          <a:solidFill>
            <a:srgbClr val="1826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1828800"/>
            <a:ext cx="3139135" cy="1371600"/>
          </a:xfrm>
          <a:prstGeom prst="rect">
            <a:avLst/>
          </a:prstGeom>
          <a:noFill/>
        </p:spPr>
        <p:txBody>
          <a:bodyPr wrap="square">
            <a:spAutoFit/>
          </a:bodyPr>
          <a:lstStyle/>
          <a:p>
            <a:pPr>
              <a:defRPr sz="2800" b="1">
                <a:solidFill>
                  <a:srgbClr val="F59E0B"/>
                </a:solidFill>
              </a:defRPr>
            </a:pPr>
            <a:r>
              <a:t>3,990+</a:t>
            </a:r>
          </a:p>
          <a:p>
            <a:pPr>
              <a:defRPr sz="1150" b="1">
                <a:solidFill>
                  <a:srgbClr val="FFFFFF"/>
                </a:solidFill>
              </a:defRPr>
            </a:pPr>
            <a:r>
              <a:t>Facilities Available</a:t>
            </a:r>
          </a:p>
          <a:p>
            <a:pPr>
              <a:defRPr sz="950">
                <a:solidFill>
                  <a:srgbClr val="94A3B8"/>
                </a:solidFill>
              </a:defRPr>
            </a:pPr>
            <a:r>
              <a:t>Full nationwide coverage across all 17 regions categorized via PSGC geographic codes.</a:t>
            </a:r>
          </a:p>
        </p:txBody>
      </p:sp>
      <p:sp>
        <p:nvSpPr>
          <p:cNvPr id="13" name="Rounded Rectangle 12"/>
          <p:cNvSpPr/>
          <p:nvPr/>
        </p:nvSpPr>
        <p:spPr>
          <a:xfrm>
            <a:off x="731520" y="3520440"/>
            <a:ext cx="10728655" cy="2697480"/>
          </a:xfrm>
          <a:prstGeom prst="roundRect">
            <a:avLst/>
          </a:prstGeom>
          <a:solidFill>
            <a:srgbClr val="18263B"/>
          </a:solidFill>
          <a:ln w="15240">
            <a:solidFill>
              <a:srgbClr val="00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657600"/>
            <a:ext cx="10362895" cy="411480"/>
          </a:xfrm>
          <a:prstGeom prst="rect">
            <a:avLst/>
          </a:prstGeom>
          <a:noFill/>
        </p:spPr>
        <p:txBody>
          <a:bodyPr wrap="square">
            <a:spAutoFit/>
          </a:bodyPr>
          <a:lstStyle/>
          <a:p>
            <a:pPr>
              <a:defRPr sz="1300" b="1">
                <a:solidFill>
                  <a:srgbClr val="FFFFFF"/>
                </a:solidFill>
              </a:defRPr>
            </a:pPr>
            <a:r>
              <a:t>V.0.4.6 Applied Functionality &amp; Features</a:t>
            </a:r>
          </a:p>
        </p:txBody>
      </p:sp>
      <p:sp>
        <p:nvSpPr>
          <p:cNvPr id="15" name="TextBox 14"/>
          <p:cNvSpPr txBox="1"/>
          <p:nvPr/>
        </p:nvSpPr>
        <p:spPr>
          <a:xfrm>
            <a:off x="914400" y="3977639"/>
            <a:ext cx="10362895" cy="2103120"/>
          </a:xfrm>
          <a:prstGeom prst="rect">
            <a:avLst/>
          </a:prstGeom>
          <a:noFill/>
        </p:spPr>
        <p:txBody>
          <a:bodyPr wrap="square">
            <a:spAutoFit/>
          </a:bodyPr>
          <a:lstStyle/>
          <a:p>
            <a:pPr>
              <a:spcAft>
                <a:spcPts val="300"/>
              </a:spcAft>
            </a:pPr>
            <a:r>
              <a:rPr b="1" sz="1050">
                <a:solidFill>
                  <a:srgbClr val="38BDF8"/>
                </a:solidFill>
              </a:rPr>
              <a:t>• 1. Institution Non-Deletion Guarantee (V.0.4.6):</a:t>
            </a:r>
            <a:r>
              <a:rPr sz="1000">
                <a:solidFill>
                  <a:srgbClr val="E2E8F0"/>
                </a:solidFill>
              </a:rPr>
              <a:t>  Removed all discard options; MedReps can continuously modify and resubmit rejected facilities without data loss; SFE rejections never permanently delete submissions.</a:t>
            </a:r>
          </a:p>
          <a:p>
            <a:pPr>
              <a:spcAft>
                <a:spcPts val="300"/>
              </a:spcAft>
            </a:pPr>
            <a:r>
              <a:rPr b="1" sz="1050">
                <a:solidFill>
                  <a:srgbClr val="38BDF8"/>
                </a:solidFill>
              </a:rPr>
              <a:t>• 2. ERPNext Role &amp; Workflow Alignment (V.0.4.5):</a:t>
            </a:r>
            <a:r>
              <a:rPr sz="1000">
                <a:solidFill>
                  <a:srgbClr val="E2E8F0"/>
                </a:solidFill>
              </a:rPr>
              <a:t>  Resolved HTTP 417 transition failures by assigning Sales Force Effectiveness role and updating Institution WF permissions for System Manager &amp; Sales Manager.</a:t>
            </a:r>
          </a:p>
          <a:p>
            <a:pPr>
              <a:spcAft>
                <a:spcPts val="300"/>
              </a:spcAft>
            </a:pPr>
            <a:r>
              <a:rPr b="1" sz="1050">
                <a:solidFill>
                  <a:srgbClr val="38BDF8"/>
                </a:solidFill>
              </a:rPr>
              <a:t>• 3. Rejection Remarks Isolation (V.0.4.4):</a:t>
            </a:r>
            <a:r>
              <a:rPr sz="1000">
                <a:solidFill>
                  <a:srgbClr val="E2E8F0"/>
                </a:solidFill>
              </a:rPr>
              <a:t>  Strict conditional gating ensures red rejection banners only appear on submissions that actually failed review. Approved, processed, and pending profiles remain clean.</a:t>
            </a:r>
          </a:p>
          <a:p>
            <a:pPr>
              <a:spcAft>
                <a:spcPts val="300"/>
              </a:spcAft>
            </a:pPr>
            <a:r>
              <a:rPr b="1" sz="1050">
                <a:solidFill>
                  <a:srgbClr val="38BDF8"/>
                </a:solidFill>
              </a:rPr>
              <a:t>• 4. SFE Institution Proposal Capability (V.0.4.4):</a:t>
            </a:r>
            <a:r>
              <a:rPr sz="1000">
                <a:solidFill>
                  <a:srgbClr val="E2E8F0"/>
                </a:solidFill>
              </a:rPr>
              <a:t>  SFE Specialists can directly propose new facilities into the masterlist from their dashboard.</a:t>
            </a:r>
          </a:p>
          <a:p>
            <a:pPr>
              <a:spcAft>
                <a:spcPts val="300"/>
              </a:spcAft>
            </a:pPr>
            <a:r>
              <a:rPr b="1" sz="1050">
                <a:solidFill>
                  <a:srgbClr val="38BDF8"/>
                </a:solidFill>
              </a:rPr>
              <a:t>• 5. Unlocked Pending Facility Profiling (V.0.4.3):</a:t>
            </a:r>
            <a:r>
              <a:rPr sz="1000">
                <a:solidFill>
                  <a:srgbClr val="E2E8F0"/>
                </a:solidFill>
              </a:rPr>
              <a:t>  MedReps can immediately select and profile doctors using newly proposed institutions without waiting for managerial approval.</a:t>
            </a:r>
          </a:p>
          <a:p>
            <a:pPr>
              <a:spcAft>
                <a:spcPts val="300"/>
              </a:spcAft>
            </a:pPr>
            <a:r>
              <a:rPr b="1" sz="1050">
                <a:solidFill>
                  <a:srgbClr val="38BDF8"/>
                </a:solidFill>
              </a:rPr>
              <a:t>• 6. Dynamic Approval Notes Parity (V.0.4.3):</a:t>
            </a:r>
            <a:r>
              <a:rPr sz="1000">
                <a:solidFill>
                  <a:srgbClr val="E2E8F0"/>
                </a:solidFill>
              </a:rPr>
              <a:t>  Displays amber 'this institution is not yet approved' during review, dynamically updating to green 'this institution is now approved' upon SFE approval.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a:spAutoFit/>
          </a:bodyPr>
          <a:lstStyle/>
          <a:p>
            <a:pPr>
              <a:defRPr sz="950" b="1">
                <a:solidFill>
                  <a:srgbClr val="38BDF8"/>
                </a:solidFill>
              </a:defRPr>
            </a:pPr>
            <a:r>
              <a:t>KEYPOINT 2: PRESENT UPDATES (WORKFLOW &amp; HARDENING)</a:t>
            </a:r>
          </a:p>
        </p:txBody>
      </p:sp>
      <p:sp>
        <p:nvSpPr>
          <p:cNvPr id="5" name="TextBox 4"/>
          <p:cNvSpPr txBox="1"/>
          <p:nvPr/>
        </p:nvSpPr>
        <p:spPr>
          <a:xfrm>
            <a:off x="731520" y="594360"/>
            <a:ext cx="10515600" cy="594360"/>
          </a:xfrm>
          <a:prstGeom prst="rect">
            <a:avLst/>
          </a:prstGeom>
          <a:noFill/>
        </p:spPr>
        <p:txBody>
          <a:bodyPr wrap="square">
            <a:spAutoFit/>
          </a:bodyPr>
          <a:lstStyle/>
          <a:p>
            <a:pPr>
              <a:defRPr sz="2200" b="1">
                <a:solidFill>
                  <a:srgbClr val="FFFFFF"/>
                </a:solidFill>
              </a:defRPr>
            </a:pPr>
            <a:r>
              <a:t>Present Updates: Zero-Deletion &amp; ERPNext Role Alignment</a:t>
            </a:r>
          </a:p>
        </p:txBody>
      </p:sp>
      <p:sp>
        <p:nvSpPr>
          <p:cNvPr id="6" name="TextBox 5"/>
          <p:cNvSpPr txBox="1"/>
          <p:nvPr/>
        </p:nvSpPr>
        <p:spPr>
          <a:xfrm>
            <a:off x="731520" y="1188720"/>
            <a:ext cx="10515600" cy="365760"/>
          </a:xfrm>
          <a:prstGeom prst="rect">
            <a:avLst/>
          </a:prstGeom>
          <a:noFill/>
        </p:spPr>
        <p:txBody>
          <a:bodyPr wrap="square">
            <a:spAutoFit/>
          </a:bodyPr>
          <a:lstStyle/>
          <a:p>
            <a:pPr>
              <a:defRPr sz="1200">
                <a:solidFill>
                  <a:srgbClr val="94A3B8"/>
                </a:solidFill>
              </a:defRPr>
            </a:pPr>
            <a:r>
              <a:t>Continuous modify/resubmit flow and backend workflow authorization parity</a:t>
            </a:r>
          </a:p>
        </p:txBody>
      </p:sp>
      <p:sp>
        <p:nvSpPr>
          <p:cNvPr id="7" name="Rounded Rectangle 6"/>
          <p:cNvSpPr/>
          <p:nvPr/>
        </p:nvSpPr>
        <p:spPr>
          <a:xfrm>
            <a:off x="731520" y="1737360"/>
            <a:ext cx="5120640" cy="4480560"/>
          </a:xfrm>
          <a:prstGeom prst="roundRect">
            <a:avLst/>
          </a:prstGeom>
          <a:solidFill>
            <a:srgbClr val="18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20"/>
            <a:ext cx="4754880" cy="411480"/>
          </a:xfrm>
          <a:prstGeom prst="rect">
            <a:avLst/>
          </a:prstGeom>
          <a:noFill/>
        </p:spPr>
        <p:txBody>
          <a:bodyPr wrap="square">
            <a:spAutoFit/>
          </a:bodyPr>
          <a:lstStyle/>
          <a:p>
            <a:pPr>
              <a:defRPr sz="1300" b="1">
                <a:solidFill>
                  <a:srgbClr val="FFFFFF"/>
                </a:solidFill>
              </a:defRPr>
            </a:pPr>
            <a:r>
              <a:t>Zero Deletion Guarantee (V.0.4.6)</a:t>
            </a:r>
          </a:p>
        </p:txBody>
      </p:sp>
      <p:sp>
        <p:nvSpPr>
          <p:cNvPr id="9" name="TextBox 8"/>
          <p:cNvSpPr txBox="1"/>
          <p:nvPr/>
        </p:nvSpPr>
        <p:spPr>
          <a:xfrm>
            <a:off x="914400" y="2286000"/>
            <a:ext cx="4754880" cy="3749039"/>
          </a:xfrm>
          <a:prstGeom prst="rect">
            <a:avLst/>
          </a:prstGeom>
          <a:noFill/>
        </p:spPr>
        <p:txBody>
          <a:bodyPr wrap="square">
            <a:spAutoFit/>
          </a:bodyPr>
          <a:lstStyle/>
          <a:p>
            <a:pPr>
              <a:spcAft>
                <a:spcPts val="700"/>
              </a:spcAft>
            </a:pPr>
            <a:r>
              <a:rPr b="1" sz="1050">
                <a:solidFill>
                  <a:srgbClr val="10B981"/>
                </a:solidFill>
              </a:rPr>
              <a:t>• Removed 'Discard' Button:</a:t>
            </a:r>
            <a:r>
              <a:rPr sz="1000">
                <a:solidFill>
                  <a:srgbClr val="E2E8F0"/>
                </a:solidFill>
              </a:rPr>
              <a:t>  MedReps cannot accidentally discard or delete proposed facilities from their submission list.</a:t>
            </a:r>
          </a:p>
          <a:p>
            <a:pPr>
              <a:spcAft>
                <a:spcPts val="700"/>
              </a:spcAft>
            </a:pPr>
            <a:r>
              <a:rPr b="1" sz="1050">
                <a:solidFill>
                  <a:srgbClr val="10B981"/>
                </a:solidFill>
              </a:rPr>
              <a:t>• Continuous Modify &amp; Resubmit:</a:t>
            </a:r>
            <a:r>
              <a:rPr sz="1000">
                <a:solidFill>
                  <a:srgbClr val="E2E8F0"/>
                </a:solidFill>
              </a:rPr>
              <a:t>  Rejected facilities exclusively present 'Modify &amp; Resubmit'. Reps can update name, address, or region and resubmit continuously.</a:t>
            </a:r>
          </a:p>
          <a:p>
            <a:pPr>
              <a:spcAft>
                <a:spcPts val="700"/>
              </a:spcAft>
            </a:pPr>
            <a:r>
              <a:rPr b="1" sz="1050">
                <a:solidFill>
                  <a:srgbClr val="10B981"/>
                </a:solidFill>
              </a:rPr>
              <a:t>• No SFE Rejection Deletion:</a:t>
            </a:r>
            <a:r>
              <a:rPr sz="1000">
                <a:solidFill>
                  <a:srgbClr val="E2E8F0"/>
                </a:solidFill>
              </a:rPr>
              <a:t>  Removed 'Reject &amp; Delete Resubmission' branch. SFE rejections simply mark status as 'Rejected' with reason, preserving the facility record.</a:t>
            </a:r>
          </a:p>
          <a:p>
            <a:pPr>
              <a:spcAft>
                <a:spcPts val="700"/>
              </a:spcAft>
            </a:pPr>
            <a:r>
              <a:rPr b="1" sz="1050">
                <a:solidFill>
                  <a:srgbClr val="10B981"/>
                </a:solidFill>
              </a:rPr>
              <a:t>• Decoupled Service Layer:</a:t>
            </a:r>
            <a:r>
              <a:rPr sz="1000">
                <a:solidFill>
                  <a:srgbClr val="E2E8F0"/>
                </a:solidFill>
              </a:rPr>
              <a:t>  rejectInstitution no longer calls deleteInstitution under any workflow branch.</a:t>
            </a:r>
          </a:p>
          <a:p>
            <a:pPr>
              <a:spcAft>
                <a:spcPts val="700"/>
              </a:spcAft>
            </a:pPr>
            <a:r>
              <a:rPr b="1" sz="1050">
                <a:solidFill>
                  <a:srgbClr val="10B981"/>
                </a:solidFill>
              </a:rPr>
              <a:t>• Preserved Audit History:</a:t>
            </a:r>
            <a:r>
              <a:rPr sz="1000">
                <a:solidFill>
                  <a:srgbClr val="E2E8F0"/>
                </a:solidFill>
              </a:rPr>
              <a:t>  All historical facility proposals remain intact for data integrity and commercial tracking.</a:t>
            </a:r>
          </a:p>
        </p:txBody>
      </p:sp>
      <p:sp>
        <p:nvSpPr>
          <p:cNvPr id="10" name="Rounded Rectangle 9"/>
          <p:cNvSpPr/>
          <p:nvPr/>
        </p:nvSpPr>
        <p:spPr>
          <a:xfrm>
            <a:off x="6309360" y="1737360"/>
            <a:ext cx="5120640" cy="4480560"/>
          </a:xfrm>
          <a:prstGeom prst="roundRect">
            <a:avLst/>
          </a:prstGeom>
          <a:solidFill>
            <a:srgbClr val="1826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74520"/>
            <a:ext cx="4754880" cy="411480"/>
          </a:xfrm>
          <a:prstGeom prst="rect">
            <a:avLst/>
          </a:prstGeom>
          <a:noFill/>
        </p:spPr>
        <p:txBody>
          <a:bodyPr wrap="square">
            <a:spAutoFit/>
          </a:bodyPr>
          <a:lstStyle/>
          <a:p>
            <a:pPr>
              <a:defRPr sz="1300" b="1">
                <a:solidFill>
                  <a:srgbClr val="FFFFFF"/>
                </a:solidFill>
              </a:defRPr>
            </a:pPr>
            <a:r>
              <a:t>ERPNext Role &amp; Workflow Parity (V.0.4.5)</a:t>
            </a:r>
          </a:p>
        </p:txBody>
      </p:sp>
      <p:sp>
        <p:nvSpPr>
          <p:cNvPr id="12" name="TextBox 11"/>
          <p:cNvSpPr txBox="1"/>
          <p:nvPr/>
        </p:nvSpPr>
        <p:spPr>
          <a:xfrm>
            <a:off x="6492240" y="2286000"/>
            <a:ext cx="4754880" cy="3749039"/>
          </a:xfrm>
          <a:prstGeom prst="rect">
            <a:avLst/>
          </a:prstGeom>
          <a:noFill/>
        </p:spPr>
        <p:txBody>
          <a:bodyPr wrap="square">
            <a:spAutoFit/>
          </a:bodyPr>
          <a:lstStyle/>
          <a:p>
            <a:pPr>
              <a:spcAft>
                <a:spcPts val="700"/>
              </a:spcAft>
            </a:pPr>
            <a:r>
              <a:rPr b="1" sz="1050">
                <a:solidFill>
                  <a:srgbClr val="38BDF8"/>
                </a:solidFill>
              </a:rPr>
              <a:t>• Root Cause Resolved:</a:t>
            </a:r>
            <a:r>
              <a:rPr sz="1000">
                <a:solidFill>
                  <a:srgbClr val="E2E8F0"/>
                </a:solidFill>
              </a:rPr>
              <a:t>  Fixed ERPNext HTTP 417: Not a valid Workflow Action error during SFE rejection calls.</a:t>
            </a:r>
          </a:p>
          <a:p>
            <a:pPr>
              <a:spcAft>
                <a:spcPts val="700"/>
              </a:spcAft>
            </a:pPr>
            <a:r>
              <a:rPr b="1" sz="1050">
                <a:solidFill>
                  <a:srgbClr val="38BDF8"/>
                </a:solidFill>
              </a:rPr>
              <a:t>• Role Alignment:</a:t>
            </a:r>
            <a:r>
              <a:rPr sz="1000">
                <a:solidFill>
                  <a:srgbClr val="E2E8F0"/>
                </a:solidFill>
              </a:rPr>
              <a:t>  Assigned explicit Sales Force Effectiveness role to active SFE account (lesantos@pims-marketing.com).</a:t>
            </a:r>
          </a:p>
          <a:p>
            <a:pPr>
              <a:spcAft>
                <a:spcPts val="700"/>
              </a:spcAft>
            </a:pPr>
            <a:r>
              <a:rPr b="1" sz="1050">
                <a:solidFill>
                  <a:srgbClr val="38BDF8"/>
                </a:solidFill>
              </a:rPr>
              <a:t>• Multi-Role Allowance:</a:t>
            </a:r>
            <a:r>
              <a:rPr sz="1000">
                <a:solidFill>
                  <a:srgbClr val="E2E8F0"/>
                </a:solidFill>
              </a:rPr>
              <a:t>  Updated Institution WF transition rules to allow Sales Force Effectiveness, System Manager, and Sales Manager on Approve and Reject.</a:t>
            </a:r>
          </a:p>
          <a:p>
            <a:pPr>
              <a:spcAft>
                <a:spcPts val="700"/>
              </a:spcAft>
            </a:pPr>
            <a:r>
              <a:rPr b="1" sz="1050">
                <a:solidFill>
                  <a:srgbClr val="38BDF8"/>
                </a:solidFill>
              </a:rPr>
              <a:t>• Client Fallback &amp; CSRF:</a:t>
            </a:r>
            <a:r>
              <a:rPr sz="1000">
                <a:solidFill>
                  <a:srgbClr val="E2E8F0"/>
                </a:solidFill>
              </a:rPr>
              <a:t>  Added CSRF token verification and direct PUT update fallback in ApiService for resilient operation.</a:t>
            </a:r>
          </a:p>
          <a:p>
            <a:pPr>
              <a:spcAft>
                <a:spcPts val="700"/>
              </a:spcAft>
            </a:pPr>
            <a:r>
              <a:rPr b="1" sz="1050">
                <a:solidFill>
                  <a:srgbClr val="38BDF8"/>
                </a:solidFill>
              </a:rPr>
              <a:t>• Rejection Notes Isolated (V.0.4.4):</a:t>
            </a:r>
            <a:r>
              <a:rPr sz="1000">
                <a:solidFill>
                  <a:srgbClr val="E2E8F0"/>
                </a:solidFill>
              </a:rPr>
              <a:t>  Rejection banners strictly gated to rejected submissions, ensuring clean views for approved and pending doctor profiles.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a:spAutoFit/>
          </a:bodyPr>
          <a:lstStyle/>
          <a:p>
            <a:pPr>
              <a:defRPr sz="950" b="1">
                <a:solidFill>
                  <a:srgbClr val="38BDF8"/>
                </a:solidFill>
              </a:defRPr>
            </a:pPr>
            <a:r>
              <a:t>KEYPOINT 2: PRESENT UPDATES (STATUS &amp; FILTERS)</a:t>
            </a:r>
          </a:p>
        </p:txBody>
      </p:sp>
      <p:sp>
        <p:nvSpPr>
          <p:cNvPr id="5" name="TextBox 4"/>
          <p:cNvSpPr txBox="1"/>
          <p:nvPr/>
        </p:nvSpPr>
        <p:spPr>
          <a:xfrm>
            <a:off x="731520" y="594360"/>
            <a:ext cx="10515600" cy="594360"/>
          </a:xfrm>
          <a:prstGeom prst="rect">
            <a:avLst/>
          </a:prstGeom>
          <a:noFill/>
        </p:spPr>
        <p:txBody>
          <a:bodyPr wrap="square">
            <a:spAutoFit/>
          </a:bodyPr>
          <a:lstStyle/>
          <a:p>
            <a:pPr>
              <a:defRPr sz="2200" b="1">
                <a:solidFill>
                  <a:srgbClr val="FFFFFF"/>
                </a:solidFill>
              </a:defRPr>
            </a:pPr>
            <a:r>
              <a:t>Present Updates: Status Parity &amp; Dynamic Approval Notes</a:t>
            </a:r>
          </a:p>
        </p:txBody>
      </p:sp>
      <p:sp>
        <p:nvSpPr>
          <p:cNvPr id="6" name="TextBox 5"/>
          <p:cNvSpPr txBox="1"/>
          <p:nvPr/>
        </p:nvSpPr>
        <p:spPr>
          <a:xfrm>
            <a:off x="731520" y="1188720"/>
            <a:ext cx="10515600" cy="365760"/>
          </a:xfrm>
          <a:prstGeom prst="rect">
            <a:avLst/>
          </a:prstGeom>
          <a:noFill/>
        </p:spPr>
        <p:txBody>
          <a:bodyPr wrap="square">
            <a:spAutoFit/>
          </a:bodyPr>
          <a:lstStyle/>
          <a:p>
            <a:pPr>
              <a:defRPr sz="1200">
                <a:solidFill>
                  <a:srgbClr val="94A3B8"/>
                </a:solidFill>
              </a:defRPr>
            </a:pPr>
            <a:r>
              <a:t>Direct 1:1 visual match with dev.pmii-marketing.com and real-time approval status labeling</a:t>
            </a:r>
          </a:p>
        </p:txBody>
      </p:sp>
      <p:sp>
        <p:nvSpPr>
          <p:cNvPr id="7" name="Rounded Rectangle 6"/>
          <p:cNvSpPr/>
          <p:nvPr/>
        </p:nvSpPr>
        <p:spPr>
          <a:xfrm>
            <a:off x="731520" y="1737360"/>
            <a:ext cx="5120640" cy="4480560"/>
          </a:xfrm>
          <a:prstGeom prst="roundRect">
            <a:avLst/>
          </a:prstGeom>
          <a:solidFill>
            <a:srgbClr val="18263B"/>
          </a:solidFill>
          <a:ln w="15240">
            <a:solidFill>
              <a:srgbClr val="00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20"/>
            <a:ext cx="4754880" cy="411480"/>
          </a:xfrm>
          <a:prstGeom prst="rect">
            <a:avLst/>
          </a:prstGeom>
          <a:noFill/>
        </p:spPr>
        <p:txBody>
          <a:bodyPr wrap="square">
            <a:spAutoFit/>
          </a:bodyPr>
          <a:lstStyle/>
          <a:p>
            <a:pPr>
              <a:defRPr sz="1300" b="1">
                <a:solidFill>
                  <a:srgbClr val="FFFFFF"/>
                </a:solidFill>
              </a:defRPr>
            </a:pPr>
            <a:r>
              <a:t>ERPNext DocType Status Parity</a:t>
            </a:r>
          </a:p>
        </p:txBody>
      </p:sp>
      <p:sp>
        <p:nvSpPr>
          <p:cNvPr id="9" name="TextBox 8"/>
          <p:cNvSpPr txBox="1"/>
          <p:nvPr/>
        </p:nvSpPr>
        <p:spPr>
          <a:xfrm>
            <a:off x="914400" y="2286000"/>
            <a:ext cx="4754880" cy="3749039"/>
          </a:xfrm>
          <a:prstGeom prst="rect">
            <a:avLst/>
          </a:prstGeom>
          <a:noFill/>
        </p:spPr>
        <p:txBody>
          <a:bodyPr wrap="square">
            <a:spAutoFit/>
          </a:bodyPr>
          <a:lstStyle/>
          <a:p>
            <a:pPr>
              <a:spcAft>
                <a:spcPts val="700"/>
              </a:spcAft>
            </a:pPr>
            <a:r>
              <a:rPr b="1" sz="1100">
                <a:solidFill>
                  <a:srgbClr val="10B981"/>
                </a:solidFill>
              </a:rPr>
              <a:t>[APPROVED] </a:t>
            </a:r>
            <a:r>
              <a:rPr b="1" sz="1000">
                <a:solidFill>
                  <a:srgbClr val="FFFFFF"/>
                </a:solidFill>
              </a:rPr>
              <a:t>- Emerald Green Pill (#059669)
</a:t>
            </a:r>
            <a:r>
              <a:rPr sz="1000">
                <a:solidFill>
                  <a:srgbClr val="E2E8F0"/>
                </a:solidFill>
              </a:rPr>
              <a:t>Officially verified healthcare facility. Selectable by MedReps across all programs for doctor profiling. Labeled: 'this institution is now approved'.</a:t>
            </a:r>
          </a:p>
          <a:p>
            <a:pPr>
              <a:spcAft>
                <a:spcPts val="700"/>
              </a:spcAft>
            </a:pPr>
            <a:r>
              <a:rPr b="1" sz="1100">
                <a:solidFill>
                  <a:srgbClr val="F59E0B"/>
                </a:solidFill>
              </a:rPr>
              <a:t>[PENDING APPROVAL] </a:t>
            </a:r>
            <a:r>
              <a:rPr b="1" sz="1000">
                <a:solidFill>
                  <a:srgbClr val="FFFFFF"/>
                </a:solidFill>
              </a:rPr>
              <a:t>- Amber / Orange Pill (#D97706)
</a:t>
            </a:r>
            <a:r>
              <a:rPr sz="1000">
                <a:solidFill>
                  <a:srgbClr val="E2E8F0"/>
                </a:solidFill>
              </a:rPr>
              <a:t>Proposed facility under SFE Specialist review. Fully selectable by MedReps for doctor profiling. Labeled: 'this institution is not yet approved'.</a:t>
            </a:r>
          </a:p>
          <a:p>
            <a:pPr>
              <a:spcAft>
                <a:spcPts val="700"/>
              </a:spcAft>
            </a:pPr>
            <a:r>
              <a:rPr b="1" sz="1100">
                <a:solidFill>
                  <a:srgbClr val="EF4444"/>
                </a:solidFill>
              </a:rPr>
              <a:t>[DRAFT] </a:t>
            </a:r>
            <a:r>
              <a:rPr b="1" sz="1000">
                <a:solidFill>
                  <a:srgbClr val="FFFFFF"/>
                </a:solidFill>
              </a:rPr>
              <a:t>- Crimson Red Pill (#DC2626)
</a:t>
            </a:r>
            <a:r>
              <a:rPr sz="1000">
                <a:solidFill>
                  <a:srgbClr val="E2E8F0"/>
                </a:solidFill>
              </a:rPr>
              <a:t>Baseline masterlist facility imported from national registry (3,900+ facilities). Fully selectable for doctor profiling.</a:t>
            </a:r>
          </a:p>
          <a:p>
            <a:pPr>
              <a:spcAft>
                <a:spcPts val="700"/>
              </a:spcAft>
            </a:pPr>
            <a:r>
              <a:rPr b="1" sz="1100">
                <a:solidFill>
                  <a:srgbClr val="EF4444"/>
                </a:solidFill>
              </a:rPr>
              <a:t>[REJECTED] </a:t>
            </a:r>
            <a:r>
              <a:rPr b="1" sz="1000">
                <a:solidFill>
                  <a:srgbClr val="FFFFFF"/>
                </a:solidFill>
              </a:rPr>
              <a:t>- Crimson Red Pill (#DC2626)
</a:t>
            </a:r>
            <a:r>
              <a:rPr sz="1000">
                <a:solidFill>
                  <a:srgbClr val="E2E8F0"/>
                </a:solidFill>
              </a:rPr>
              <a:t>Declined by SFE Specialist with remarks. Blocked from profiling; continuously editable by MedRep for resubmission.</a:t>
            </a:r>
          </a:p>
        </p:txBody>
      </p:sp>
      <p:sp>
        <p:nvSpPr>
          <p:cNvPr id="10" name="Rounded Rectangle 9"/>
          <p:cNvSpPr/>
          <p:nvPr/>
        </p:nvSpPr>
        <p:spPr>
          <a:xfrm>
            <a:off x="6309360" y="1737360"/>
            <a:ext cx="5120640" cy="4480560"/>
          </a:xfrm>
          <a:prstGeom prst="roundRect">
            <a:avLst/>
          </a:prstGeom>
          <a:solidFill>
            <a:srgbClr val="1826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74520"/>
            <a:ext cx="4754880" cy="411480"/>
          </a:xfrm>
          <a:prstGeom prst="rect">
            <a:avLst/>
          </a:prstGeom>
          <a:noFill/>
        </p:spPr>
        <p:txBody>
          <a:bodyPr wrap="square">
            <a:spAutoFit/>
          </a:bodyPr>
          <a:lstStyle/>
          <a:p>
            <a:pPr>
              <a:defRPr sz="1300" b="1">
                <a:solidFill>
                  <a:srgbClr val="FFFFFF"/>
                </a:solidFill>
              </a:defRPr>
            </a:pPr>
            <a:r>
              <a:t>Search Filter Engine Parity</a:t>
            </a:r>
          </a:p>
        </p:txBody>
      </p:sp>
      <p:sp>
        <p:nvSpPr>
          <p:cNvPr id="12" name="TextBox 11"/>
          <p:cNvSpPr txBox="1"/>
          <p:nvPr/>
        </p:nvSpPr>
        <p:spPr>
          <a:xfrm>
            <a:off x="6492240" y="2286000"/>
            <a:ext cx="4754880" cy="3749039"/>
          </a:xfrm>
          <a:prstGeom prst="rect">
            <a:avLst/>
          </a:prstGeom>
          <a:noFill/>
        </p:spPr>
        <p:txBody>
          <a:bodyPr wrap="square">
            <a:spAutoFit/>
          </a:bodyPr>
          <a:lstStyle/>
          <a:p>
            <a:pPr>
              <a:spcAft>
                <a:spcPts val="600"/>
              </a:spcAft>
            </a:pPr>
            <a:r>
              <a:rPr b="1" sz="1050">
                <a:solidFill>
                  <a:srgbClr val="38BDF8"/>
                </a:solidFill>
              </a:rPr>
              <a:t>• Collapsible [= Filter] Bar:</a:t>
            </a:r>
            <a:r>
              <a:rPr sz="1000">
                <a:solidFill>
                  <a:srgbClr val="E2E8F0"/>
                </a:solidFill>
              </a:rPr>
              <a:t>  Deep navy slate button (#1E293B). 1 tap reveals or hides the multi-input filter row to maximize vertical reading area on mobile phones.</a:t>
            </a:r>
          </a:p>
          <a:p>
            <a:pPr>
              <a:spcAft>
                <a:spcPts val="600"/>
              </a:spcAft>
            </a:pPr>
            <a:r>
              <a:rPr b="1" sz="1050">
                <a:solidFill>
                  <a:srgbClr val="38BDF8"/>
                </a:solidFill>
              </a:rPr>
              <a:t>• Inline [Clear Filters] Badge:</a:t>
            </a:r>
            <a:r>
              <a:rPr sz="1000">
                <a:solidFill>
                  <a:srgbClr val="E2E8F0"/>
                </a:solidFill>
              </a:rPr>
              <a:t>  Automatically materializes in red pill styling whenever any search parameter is active. Resets all inputs with 1 tap.</a:t>
            </a:r>
          </a:p>
          <a:p>
            <a:pPr>
              <a:spcAft>
                <a:spcPts val="600"/>
              </a:spcAft>
            </a:pPr>
            <a:r>
              <a:rPr b="1" sz="1050">
                <a:solidFill>
                  <a:srgbClr val="38BDF8"/>
                </a:solidFill>
              </a:rPr>
              <a:t>• Bi-Directional Sort Controls:</a:t>
            </a:r>
            <a:r>
              <a:rPr sz="1000">
                <a:solidFill>
                  <a:srgbClr val="E2E8F0"/>
                </a:solidFill>
              </a:rPr>
              <a:t>  Dedicated Ascending (↑) / Descending (↓) toggle with multi-field sort dropdown (Last Updated On, Name, ID, Status, Region, City).</a:t>
            </a:r>
          </a:p>
          <a:p>
            <a:pPr>
              <a:spcAft>
                <a:spcPts val="600"/>
              </a:spcAft>
            </a:pPr>
            <a:r>
              <a:rPr b="1" sz="1050">
                <a:solidFill>
                  <a:srgbClr val="38BDF8"/>
                </a:solidFill>
              </a:rPr>
              <a:t>• Dynamic Counter Badge:</a:t>
            </a:r>
            <a:r>
              <a:rPr sz="1000">
                <a:solidFill>
                  <a:srgbClr val="E2E8F0"/>
                </a:solidFill>
              </a:rPr>
              <a:t>  Real-time counter displaying 'Showing X of Y' when filtered (e.g. 'Showing 14 of 3,990'), and total record count when unfiltered.</a:t>
            </a:r>
          </a:p>
          <a:p>
            <a:pPr>
              <a:spcAft>
                <a:spcPts val="600"/>
              </a:spcAft>
            </a:pPr>
            <a:r>
              <a:rPr b="1" sz="1050">
                <a:solidFill>
                  <a:srgbClr val="38BDF8"/>
                </a:solidFill>
              </a:rPr>
              <a:t>• 1-Tap Clipboard Copy:</a:t>
            </a:r>
            <a:r>
              <a:rPr sz="1000">
                <a:solidFill>
                  <a:srgbClr val="E2E8F0"/>
                </a:solidFill>
              </a:rPr>
              <a:t>  Tap any facility ID chip to copy with toast notification.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a:spAutoFit/>
          </a:bodyPr>
          <a:lstStyle/>
          <a:p>
            <a:pPr>
              <a:defRPr sz="950" b="1">
                <a:solidFill>
                  <a:srgbClr val="38BDF8"/>
                </a:solidFill>
              </a:defRPr>
            </a:pPr>
            <a:r>
              <a:t>KEYPOINT 3: FUTURE ROADMAP</a:t>
            </a:r>
          </a:p>
        </p:txBody>
      </p:sp>
      <p:sp>
        <p:nvSpPr>
          <p:cNvPr id="5" name="TextBox 4"/>
          <p:cNvSpPr txBox="1"/>
          <p:nvPr/>
        </p:nvSpPr>
        <p:spPr>
          <a:xfrm>
            <a:off x="731520" y="594360"/>
            <a:ext cx="10515600" cy="594360"/>
          </a:xfrm>
          <a:prstGeom prst="rect">
            <a:avLst/>
          </a:prstGeom>
          <a:noFill/>
        </p:spPr>
        <p:txBody>
          <a:bodyPr wrap="square">
            <a:spAutoFit/>
          </a:bodyPr>
          <a:lstStyle/>
          <a:p>
            <a:pPr>
              <a:defRPr sz="2200" b="1">
                <a:solidFill>
                  <a:srgbClr val="FFFFFF"/>
                </a:solidFill>
              </a:defRPr>
            </a:pPr>
            <a:r>
              <a:t>Future Updates: Mobile Enhancements (Tabs &amp; Layout)</a:t>
            </a:r>
          </a:p>
        </p:txBody>
      </p:sp>
      <p:sp>
        <p:nvSpPr>
          <p:cNvPr id="6" name="TextBox 5"/>
          <p:cNvSpPr txBox="1"/>
          <p:nvPr/>
        </p:nvSpPr>
        <p:spPr>
          <a:xfrm>
            <a:off x="731520" y="1188720"/>
            <a:ext cx="10515600" cy="365760"/>
          </a:xfrm>
          <a:prstGeom prst="rect">
            <a:avLst/>
          </a:prstGeom>
          <a:noFill/>
        </p:spPr>
        <p:txBody>
          <a:bodyPr wrap="square">
            <a:spAutoFit/>
          </a:bodyPr>
          <a:lstStyle/>
          <a:p>
            <a:pPr>
              <a:defRPr sz="1200">
                <a:solidFill>
                  <a:srgbClr val="94A3B8"/>
                </a:solidFill>
              </a:defRPr>
            </a:pPr>
            <a:r>
              <a:t>Implementing user-requested tab restructuring, hidden views, and mandatory fields (Part 1)</a:t>
            </a:r>
          </a:p>
        </p:txBody>
      </p:sp>
      <p:sp>
        <p:nvSpPr>
          <p:cNvPr id="7" name="Rounded Rectangle 6"/>
          <p:cNvSpPr/>
          <p:nvPr/>
        </p:nvSpPr>
        <p:spPr>
          <a:xfrm>
            <a:off x="731520" y="1737360"/>
            <a:ext cx="2514600" cy="4480560"/>
          </a:xfrm>
          <a:prstGeom prst="roundRect">
            <a:avLst/>
          </a:prstGeom>
          <a:solidFill>
            <a:srgbClr val="1826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19"/>
            <a:ext cx="2240280" cy="4206240"/>
          </a:xfrm>
          <a:prstGeom prst="rect">
            <a:avLst/>
          </a:prstGeom>
          <a:noFill/>
        </p:spPr>
        <p:txBody>
          <a:bodyPr wrap="square">
            <a:spAutoFit/>
          </a:bodyPr>
          <a:lstStyle/>
          <a:p>
            <a:pPr>
              <a:spcAft>
                <a:spcPts val="1000"/>
              </a:spcAft>
              <a:defRPr sz="1150" b="1">
                <a:solidFill>
                  <a:srgbClr val="38BDF8"/>
                </a:solidFill>
              </a:defRPr>
            </a:pPr>
            <a:r>
              <a:t>1. Consent Tab Last</a:t>
            </a:r>
          </a:p>
          <a:p>
            <a:pPr>
              <a:spcAft>
                <a:spcPts val="600"/>
              </a:spcAft>
              <a:defRPr sz="950">
                <a:solidFill>
                  <a:srgbClr val="E2E8F0"/>
                </a:solidFill>
              </a:defRPr>
            </a:pPr>
            <a:r>
              <a:t>• User Requirement: 'Consent must be display at the last of the tab.'</a:t>
            </a:r>
          </a:p>
          <a:p>
            <a:pPr>
              <a:spcAft>
                <a:spcPts val="600"/>
              </a:spcAft>
              <a:defRPr sz="950">
                <a:solidFill>
                  <a:srgbClr val="E2E8F0"/>
                </a:solidFill>
              </a:defRPr>
            </a:pPr>
            <a:r>
              <a:t>• Target Sequence: 1. Doctor Info -&gt; 2. Questionnaire -&gt; 3. Consent.</a:t>
            </a:r>
          </a:p>
          <a:p>
            <a:pPr>
              <a:spcAft>
                <a:spcPts val="600"/>
              </a:spcAft>
              <a:defRPr sz="950">
                <a:solidFill>
                  <a:srgbClr val="E2E8F0"/>
                </a:solidFill>
              </a:defRPr>
            </a:pPr>
            <a:r>
              <a:t>• Ergonomics: Aligns with the natural chronological flow of medical sales visits.</a:t>
            </a:r>
          </a:p>
          <a:p>
            <a:pPr>
              <a:spcAft>
                <a:spcPts val="600"/>
              </a:spcAft>
              <a:defRPr sz="950">
                <a:solidFill>
                  <a:srgbClr val="E2E8F0"/>
                </a:solidFill>
              </a:defRPr>
            </a:pPr>
            <a:r>
              <a:t>• Eliminates early signature interruptions during call detailing.</a:t>
            </a:r>
          </a:p>
        </p:txBody>
      </p:sp>
      <p:sp>
        <p:nvSpPr>
          <p:cNvPr id="9" name="Rounded Rectangle 8"/>
          <p:cNvSpPr/>
          <p:nvPr/>
        </p:nvSpPr>
        <p:spPr>
          <a:xfrm>
            <a:off x="3474720" y="1737360"/>
            <a:ext cx="2514600" cy="4480560"/>
          </a:xfrm>
          <a:prstGeom prst="roundRect">
            <a:avLst/>
          </a:prstGeom>
          <a:solidFill>
            <a:srgbClr val="1826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79" y="1874519"/>
            <a:ext cx="2240280" cy="4206240"/>
          </a:xfrm>
          <a:prstGeom prst="rect">
            <a:avLst/>
          </a:prstGeom>
          <a:noFill/>
        </p:spPr>
        <p:txBody>
          <a:bodyPr wrap="square">
            <a:spAutoFit/>
          </a:bodyPr>
          <a:lstStyle/>
          <a:p>
            <a:pPr>
              <a:spcAft>
                <a:spcPts val="1000"/>
              </a:spcAft>
              <a:defRPr sz="1150" b="1">
                <a:solidFill>
                  <a:srgbClr val="F59E0B"/>
                </a:solidFill>
              </a:defRPr>
            </a:pPr>
            <a:r>
              <a:t>2. Hidden 'Others' Tab</a:t>
            </a:r>
          </a:p>
          <a:p>
            <a:pPr>
              <a:spcAft>
                <a:spcPts val="600"/>
              </a:spcAft>
              <a:defRPr sz="950">
                <a:solidFill>
                  <a:srgbClr val="E2E8F0"/>
                </a:solidFill>
              </a:defRPr>
            </a:pPr>
            <a:r>
              <a:t>• User Requirement: 'Others tab must be hidden.'</a:t>
            </a:r>
          </a:p>
          <a:p>
            <a:pPr>
              <a:spcAft>
                <a:spcPts val="600"/>
              </a:spcAft>
              <a:defRPr sz="950">
                <a:solidFill>
                  <a:srgbClr val="E2E8F0"/>
                </a:solidFill>
              </a:defRPr>
            </a:pPr>
            <a:r>
              <a:t>• Streamlined UI: Eliminates low-utility tab from submission and wizard views.</a:t>
            </a:r>
          </a:p>
          <a:p>
            <a:pPr>
              <a:spcAft>
                <a:spcPts val="600"/>
              </a:spcAft>
              <a:defRPr sz="950">
                <a:solidFill>
                  <a:srgbClr val="E2E8F0"/>
                </a:solidFill>
              </a:defRPr>
            </a:pPr>
            <a:r>
              <a:t>• Visual Ergonomics: Saves horizontal screen width and avoids tab overflow.</a:t>
            </a:r>
          </a:p>
          <a:p>
            <a:pPr>
              <a:spcAft>
                <a:spcPts val="600"/>
              </a:spcAft>
              <a:defRPr sz="950">
                <a:solidFill>
                  <a:srgbClr val="E2E8F0"/>
                </a:solidFill>
              </a:defRPr>
            </a:pPr>
            <a:r>
              <a:t>• Zero clutter for mobile screens.</a:t>
            </a:r>
          </a:p>
        </p:txBody>
      </p:sp>
      <p:sp>
        <p:nvSpPr>
          <p:cNvPr id="11" name="Rounded Rectangle 10"/>
          <p:cNvSpPr/>
          <p:nvPr/>
        </p:nvSpPr>
        <p:spPr>
          <a:xfrm>
            <a:off x="6217920" y="1737360"/>
            <a:ext cx="2514600" cy="4480560"/>
          </a:xfrm>
          <a:prstGeom prst="roundRect">
            <a:avLst/>
          </a:prstGeom>
          <a:solidFill>
            <a:srgbClr val="18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874519"/>
            <a:ext cx="2240280" cy="4206240"/>
          </a:xfrm>
          <a:prstGeom prst="rect">
            <a:avLst/>
          </a:prstGeom>
          <a:noFill/>
        </p:spPr>
        <p:txBody>
          <a:bodyPr wrap="square">
            <a:spAutoFit/>
          </a:bodyPr>
          <a:lstStyle/>
          <a:p>
            <a:pPr>
              <a:spcAft>
                <a:spcPts val="1000"/>
              </a:spcAft>
              <a:defRPr sz="1150" b="1">
                <a:solidFill>
                  <a:srgbClr val="10B981"/>
                </a:solidFill>
              </a:defRPr>
            </a:pPr>
            <a:r>
              <a:t>3. Continuous GPS</a:t>
            </a:r>
          </a:p>
          <a:p>
            <a:pPr>
              <a:spcAft>
                <a:spcPts val="600"/>
              </a:spcAft>
              <a:defRPr sz="950">
                <a:solidFill>
                  <a:srgbClr val="E2E8F0"/>
                </a:solidFill>
              </a:defRPr>
            </a:pPr>
            <a:r>
              <a:t>• User Requirement: 'Geolocation should be active all the time.'</a:t>
            </a:r>
          </a:p>
          <a:p>
            <a:pPr>
              <a:spcAft>
                <a:spcPts val="600"/>
              </a:spcAft>
              <a:defRPr sz="950">
                <a:solidFill>
                  <a:srgbClr val="E2E8F0"/>
                </a:solidFill>
              </a:defRPr>
            </a:pPr>
            <a:r>
              <a:t>• Always-Active: Keeps GPS service active during profiling sessions.</a:t>
            </a:r>
          </a:p>
          <a:p>
            <a:pPr>
              <a:spcAft>
                <a:spcPts val="600"/>
              </a:spcAft>
              <a:defRPr sz="950">
                <a:solidFill>
                  <a:srgbClr val="E2E8F0"/>
                </a:solidFill>
              </a:defRPr>
            </a:pPr>
            <a:r>
              <a:t>• Smart Matching: Auto-prioritizes nearby hospitals with geo-timestamps.</a:t>
            </a:r>
          </a:p>
          <a:p>
            <a:pPr>
              <a:spcAft>
                <a:spcPts val="600"/>
              </a:spcAft>
              <a:defRPr sz="950">
                <a:solidFill>
                  <a:srgbClr val="E2E8F0"/>
                </a:solidFill>
              </a:defRPr>
            </a:pPr>
            <a:r>
              <a:t>• Prevents off-site fraudulent profile submissions.</a:t>
            </a:r>
          </a:p>
        </p:txBody>
      </p:sp>
      <p:sp>
        <p:nvSpPr>
          <p:cNvPr id="13" name="Rounded Rectangle 12"/>
          <p:cNvSpPr/>
          <p:nvPr/>
        </p:nvSpPr>
        <p:spPr>
          <a:xfrm>
            <a:off x="8961120" y="1737360"/>
            <a:ext cx="2514600" cy="4480560"/>
          </a:xfrm>
          <a:prstGeom prst="roundRect">
            <a:avLst/>
          </a:prstGeom>
          <a:solidFill>
            <a:srgbClr val="18263B"/>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874519"/>
            <a:ext cx="2240280" cy="4206240"/>
          </a:xfrm>
          <a:prstGeom prst="rect">
            <a:avLst/>
          </a:prstGeom>
          <a:noFill/>
        </p:spPr>
        <p:txBody>
          <a:bodyPr wrap="square">
            <a:spAutoFit/>
          </a:bodyPr>
          <a:lstStyle/>
          <a:p>
            <a:pPr>
              <a:spcAft>
                <a:spcPts val="1000"/>
              </a:spcAft>
              <a:defRPr sz="1150" b="1">
                <a:solidFill>
                  <a:srgbClr val="A855F7"/>
                </a:solidFill>
              </a:defRPr>
            </a:pPr>
            <a:r>
              <a:t>4. Mandatory Legend</a:t>
            </a:r>
          </a:p>
          <a:p>
            <a:pPr>
              <a:spcAft>
                <a:spcPts val="600"/>
              </a:spcAft>
              <a:defRPr sz="950">
                <a:solidFill>
                  <a:srgbClr val="E2E8F0"/>
                </a:solidFill>
              </a:defRPr>
            </a:pPr>
            <a:r>
              <a:t>• User Requirement: 'Legend of mandatory field in Doctor's Information.'</a:t>
            </a:r>
          </a:p>
          <a:p>
            <a:pPr>
              <a:spcAft>
                <a:spcPts val="600"/>
              </a:spcAft>
              <a:defRPr sz="950">
                <a:solidFill>
                  <a:srgbClr val="E2E8F0"/>
                </a:solidFill>
              </a:defRPr>
            </a:pPr>
            <a:r>
              <a:t>• Top Banner: Clear banner: '* Indicates required fields for profiling submission'.</a:t>
            </a:r>
          </a:p>
          <a:p>
            <a:pPr>
              <a:spcAft>
                <a:spcPts val="600"/>
              </a:spcAft>
              <a:defRPr sz="950">
                <a:solidFill>
                  <a:srgbClr val="E2E8F0"/>
                </a:solidFill>
              </a:defRPr>
            </a:pPr>
            <a:r>
              <a:t>• Zero Guesswork: Fast and clear form completion for field reps.</a:t>
            </a:r>
          </a:p>
          <a:p>
            <a:pPr>
              <a:spcAft>
                <a:spcPts val="600"/>
              </a:spcAft>
              <a:defRPr sz="950">
                <a:solidFill>
                  <a:srgbClr val="E2E8F0"/>
                </a:solidFill>
              </a:defRPr>
            </a:pPr>
            <a:r>
              <a:t>• Matches corporate compliance and clinical data standards.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a:spAutoFit/>
          </a:bodyPr>
          <a:lstStyle/>
          <a:p>
            <a:pPr>
              <a:defRPr sz="950" b="1">
                <a:solidFill>
                  <a:srgbClr val="38BDF8"/>
                </a:solidFill>
              </a:defRPr>
            </a:pPr>
            <a:r>
              <a:t>KEYPOINT 3: FUTURE ROADMAP</a:t>
            </a:r>
          </a:p>
        </p:txBody>
      </p:sp>
      <p:sp>
        <p:nvSpPr>
          <p:cNvPr id="5" name="TextBox 4"/>
          <p:cNvSpPr txBox="1"/>
          <p:nvPr/>
        </p:nvSpPr>
        <p:spPr>
          <a:xfrm>
            <a:off x="731520" y="594360"/>
            <a:ext cx="10515600" cy="594360"/>
          </a:xfrm>
          <a:prstGeom prst="rect">
            <a:avLst/>
          </a:prstGeom>
          <a:noFill/>
        </p:spPr>
        <p:txBody>
          <a:bodyPr wrap="square">
            <a:spAutoFit/>
          </a:bodyPr>
          <a:lstStyle/>
          <a:p>
            <a:pPr>
              <a:defRPr sz="2200" b="1">
                <a:solidFill>
                  <a:srgbClr val="FFFFFF"/>
                </a:solidFill>
              </a:defRPr>
            </a:pPr>
            <a:r>
              <a:t>Future Updates: Validation, Deduplication &amp; Audit</a:t>
            </a:r>
          </a:p>
        </p:txBody>
      </p:sp>
      <p:sp>
        <p:nvSpPr>
          <p:cNvPr id="6" name="TextBox 5"/>
          <p:cNvSpPr txBox="1"/>
          <p:nvPr/>
        </p:nvSpPr>
        <p:spPr>
          <a:xfrm>
            <a:off x="731520" y="1188720"/>
            <a:ext cx="10515600" cy="365760"/>
          </a:xfrm>
          <a:prstGeom prst="rect">
            <a:avLst/>
          </a:prstGeom>
          <a:noFill/>
        </p:spPr>
        <p:txBody>
          <a:bodyPr wrap="square">
            <a:spAutoFit/>
          </a:bodyPr>
          <a:lstStyle/>
          <a:p>
            <a:pPr>
              <a:defRPr sz="1200">
                <a:solidFill>
                  <a:srgbClr val="94A3B8"/>
                </a:solidFill>
              </a:defRPr>
            </a:pPr>
            <a:r>
              <a:t>Mandatory specialization, missing field pop-ups, duplicate detection, and audit layout (Part 2)</a:t>
            </a:r>
          </a:p>
        </p:txBody>
      </p:sp>
      <p:sp>
        <p:nvSpPr>
          <p:cNvPr id="7" name="Rounded Rectangle 6"/>
          <p:cNvSpPr/>
          <p:nvPr/>
        </p:nvSpPr>
        <p:spPr>
          <a:xfrm>
            <a:off x="731520" y="1737360"/>
            <a:ext cx="2514600" cy="4480560"/>
          </a:xfrm>
          <a:prstGeom prst="roundRect">
            <a:avLst/>
          </a:prstGeom>
          <a:solidFill>
            <a:srgbClr val="18263B"/>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19"/>
            <a:ext cx="2240280" cy="4206240"/>
          </a:xfrm>
          <a:prstGeom prst="rect">
            <a:avLst/>
          </a:prstGeom>
          <a:noFill/>
        </p:spPr>
        <p:txBody>
          <a:bodyPr wrap="square">
            <a:spAutoFit/>
          </a:bodyPr>
          <a:lstStyle/>
          <a:p>
            <a:pPr>
              <a:spcAft>
                <a:spcPts val="1000"/>
              </a:spcAft>
              <a:defRPr sz="1150" b="1">
                <a:solidFill>
                  <a:srgbClr val="EF4444"/>
                </a:solidFill>
              </a:defRPr>
            </a:pPr>
            <a:r>
              <a:t>5. Mandatory Specialty (*)</a:t>
            </a:r>
          </a:p>
          <a:p>
            <a:pPr>
              <a:spcAft>
                <a:spcPts val="600"/>
              </a:spcAft>
              <a:defRPr sz="950">
                <a:solidFill>
                  <a:srgbClr val="E2E8F0"/>
                </a:solidFill>
              </a:defRPr>
            </a:pPr>
            <a:r>
              <a:t>• User Requirement: 'Specialization &amp; Workplace is mandatory (must have an * ).'</a:t>
            </a:r>
          </a:p>
          <a:p>
            <a:pPr>
              <a:spcAft>
                <a:spcPts val="600"/>
              </a:spcAft>
              <a:defRPr sz="950">
                <a:solidFill>
                  <a:srgbClr val="E2E8F0"/>
                </a:solidFill>
              </a:defRPr>
            </a:pPr>
            <a:r>
              <a:t>• Asterisk (*): Red marker beside Specialization * and Workplace *.</a:t>
            </a:r>
          </a:p>
          <a:p>
            <a:pPr>
              <a:spcAft>
                <a:spcPts val="600"/>
              </a:spcAft>
              <a:defRPr sz="950">
                <a:solidFill>
                  <a:srgbClr val="E2E8F0"/>
                </a:solidFill>
              </a:defRPr>
            </a:pPr>
            <a:r>
              <a:t>• Strict Gating: Blocks progression if either required field is unselected.</a:t>
            </a:r>
          </a:p>
          <a:p>
            <a:pPr>
              <a:spcAft>
                <a:spcPts val="600"/>
              </a:spcAft>
              <a:defRPr sz="950">
                <a:solidFill>
                  <a:srgbClr val="E2E8F0"/>
                </a:solidFill>
              </a:defRPr>
            </a:pPr>
            <a:r>
              <a:t>• Ensures complete commercial profiling data for CRM segmentation.</a:t>
            </a:r>
          </a:p>
        </p:txBody>
      </p:sp>
      <p:sp>
        <p:nvSpPr>
          <p:cNvPr id="9" name="Rounded Rectangle 8"/>
          <p:cNvSpPr/>
          <p:nvPr/>
        </p:nvSpPr>
        <p:spPr>
          <a:xfrm>
            <a:off x="3474720" y="1737360"/>
            <a:ext cx="2514600" cy="4480560"/>
          </a:xfrm>
          <a:prstGeom prst="roundRect">
            <a:avLst/>
          </a:prstGeom>
          <a:solidFill>
            <a:srgbClr val="1826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79" y="1874519"/>
            <a:ext cx="2240280" cy="4206240"/>
          </a:xfrm>
          <a:prstGeom prst="rect">
            <a:avLst/>
          </a:prstGeom>
          <a:noFill/>
        </p:spPr>
        <p:txBody>
          <a:bodyPr wrap="square">
            <a:spAutoFit/>
          </a:bodyPr>
          <a:lstStyle/>
          <a:p>
            <a:pPr>
              <a:spcAft>
                <a:spcPts val="1000"/>
              </a:spcAft>
              <a:defRPr sz="1150" b="1">
                <a:solidFill>
                  <a:srgbClr val="F59E0B"/>
                </a:solidFill>
              </a:defRPr>
            </a:pPr>
            <a:r>
              <a:t>6. Missing Fields Modal</a:t>
            </a:r>
          </a:p>
          <a:p>
            <a:pPr>
              <a:spcAft>
                <a:spcPts val="600"/>
              </a:spcAft>
              <a:defRPr sz="950">
                <a:solidFill>
                  <a:srgbClr val="E2E8F0"/>
                </a:solidFill>
              </a:defRPr>
            </a:pPr>
            <a:r>
              <a:t>• User Requirement: 'Add an pop-up notification on which the user knows what field is lacking.'</a:t>
            </a:r>
          </a:p>
          <a:p>
            <a:pPr>
              <a:spcAft>
                <a:spcPts val="600"/>
              </a:spcAft>
              <a:defRPr sz="950">
                <a:solidFill>
                  <a:srgbClr val="E2E8F0"/>
                </a:solidFill>
              </a:defRPr>
            </a:pPr>
            <a:r>
              <a:t>• Smart Modal: Itemizes missing fields before submit (e.g. • Signature missing).</a:t>
            </a:r>
          </a:p>
          <a:p>
            <a:pPr>
              <a:spcAft>
                <a:spcPts val="600"/>
              </a:spcAft>
              <a:defRPr sz="950">
                <a:solidFill>
                  <a:srgbClr val="E2E8F0"/>
                </a:solidFill>
              </a:defRPr>
            </a:pPr>
            <a:r>
              <a:t>• 1-Tap Jump: Tapping an item jumps directly to the field.</a:t>
            </a:r>
          </a:p>
          <a:p>
            <a:pPr>
              <a:spcAft>
                <a:spcPts val="600"/>
              </a:spcAft>
              <a:defRPr sz="950">
                <a:solidFill>
                  <a:srgbClr val="E2E8F0"/>
                </a:solidFill>
              </a:defRPr>
            </a:pPr>
            <a:r>
              <a:t>• Replaces tiny snackbars with actionable pop-up dialogs.</a:t>
            </a:r>
          </a:p>
        </p:txBody>
      </p:sp>
      <p:sp>
        <p:nvSpPr>
          <p:cNvPr id="11" name="Rounded Rectangle 10"/>
          <p:cNvSpPr/>
          <p:nvPr/>
        </p:nvSpPr>
        <p:spPr>
          <a:xfrm>
            <a:off x="6217920" y="1737360"/>
            <a:ext cx="2514600" cy="4480560"/>
          </a:xfrm>
          <a:prstGeom prst="roundRect">
            <a:avLst/>
          </a:prstGeom>
          <a:solidFill>
            <a:srgbClr val="1826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874519"/>
            <a:ext cx="2240280" cy="4206240"/>
          </a:xfrm>
          <a:prstGeom prst="rect">
            <a:avLst/>
          </a:prstGeom>
          <a:noFill/>
        </p:spPr>
        <p:txBody>
          <a:bodyPr wrap="square">
            <a:spAutoFit/>
          </a:bodyPr>
          <a:lstStyle/>
          <a:p>
            <a:pPr>
              <a:spcAft>
                <a:spcPts val="1000"/>
              </a:spcAft>
              <a:defRPr sz="1150" b="1">
                <a:solidFill>
                  <a:srgbClr val="38BDF8"/>
                </a:solidFill>
              </a:defRPr>
            </a:pPr>
            <a:r>
              <a:t>7. Duplicate Detection</a:t>
            </a:r>
          </a:p>
          <a:p>
            <a:pPr>
              <a:spcAft>
                <a:spcPts val="600"/>
              </a:spcAft>
              <a:defRPr sz="950">
                <a:solidFill>
                  <a:srgbClr val="E2E8F0"/>
                </a:solidFill>
              </a:defRPr>
            </a:pPr>
            <a:r>
              <a:t>• User Requirement: 'Duplicate detection.'</a:t>
            </a:r>
          </a:p>
          <a:p>
            <a:pPr>
              <a:spcAft>
                <a:spcPts val="600"/>
              </a:spcAft>
              <a:defRPr sz="950">
                <a:solidFill>
                  <a:srgbClr val="E2E8F0"/>
                </a:solidFill>
              </a:defRPr>
            </a:pPr>
            <a:r>
              <a:t>• Multi-Factor: Checks PRC License Number, Doctor Full Name, and Clinic.</a:t>
            </a:r>
          </a:p>
          <a:p>
            <a:pPr>
              <a:spcAft>
                <a:spcPts val="600"/>
              </a:spcAft>
              <a:defRPr sz="950">
                <a:solidFill>
                  <a:srgbClr val="E2E8F0"/>
                </a:solidFill>
              </a:defRPr>
            </a:pPr>
            <a:r>
              <a:t>• Cross-DB: Validates across local SQLite and ERPNext server.</a:t>
            </a:r>
          </a:p>
          <a:p>
            <a:pPr>
              <a:spcAft>
                <a:spcPts val="600"/>
              </a:spcAft>
              <a:defRPr sz="950">
                <a:solidFill>
                  <a:srgbClr val="E2E8F0"/>
                </a:solidFill>
              </a:defRPr>
            </a:pPr>
            <a:r>
              <a:t>• Warns reps immediately if a colleague already profiled the HCP.</a:t>
            </a:r>
          </a:p>
        </p:txBody>
      </p:sp>
      <p:sp>
        <p:nvSpPr>
          <p:cNvPr id="13" name="Rounded Rectangle 12"/>
          <p:cNvSpPr/>
          <p:nvPr/>
        </p:nvSpPr>
        <p:spPr>
          <a:xfrm>
            <a:off x="8961120" y="1737360"/>
            <a:ext cx="2514600" cy="4480560"/>
          </a:xfrm>
          <a:prstGeom prst="roundRect">
            <a:avLst/>
          </a:prstGeom>
          <a:solidFill>
            <a:srgbClr val="18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874519"/>
            <a:ext cx="2240280" cy="4206240"/>
          </a:xfrm>
          <a:prstGeom prst="rect">
            <a:avLst/>
          </a:prstGeom>
          <a:noFill/>
        </p:spPr>
        <p:txBody>
          <a:bodyPr wrap="square">
            <a:spAutoFit/>
          </a:bodyPr>
          <a:lstStyle/>
          <a:p>
            <a:pPr>
              <a:spcAft>
                <a:spcPts val="1000"/>
              </a:spcAft>
              <a:defRPr sz="1150" b="1">
                <a:solidFill>
                  <a:srgbClr val="10B981"/>
                </a:solidFill>
              </a:defRPr>
            </a:pPr>
            <a:r>
              <a:t>8. Changes Placed Below Consent</a:t>
            </a:r>
          </a:p>
          <a:p>
            <a:pPr>
              <a:spcAft>
                <a:spcPts val="600"/>
              </a:spcAft>
              <a:defRPr sz="950">
                <a:solidFill>
                  <a:srgbClr val="E2E8F0"/>
                </a:solidFill>
              </a:defRPr>
            </a:pPr>
            <a:r>
              <a:t>• User Requirement: 'Changes will be available below of the consent.'</a:t>
            </a:r>
          </a:p>
          <a:p>
            <a:pPr>
              <a:spcAft>
                <a:spcPts val="600"/>
              </a:spcAft>
              <a:defRPr sz="950">
                <a:solidFill>
                  <a:srgbClr val="E2E8F0"/>
                </a:solidFill>
              </a:defRPr>
            </a:pPr>
            <a:r>
              <a:t>• Integrated Audit Trail: Moves the 'Changes' audit log from a separate tab to directly below the Consent section.</a:t>
            </a:r>
          </a:p>
          <a:p>
            <a:pPr>
              <a:spcAft>
                <a:spcPts val="600"/>
              </a:spcAft>
              <a:defRPr sz="950">
                <a:solidFill>
                  <a:srgbClr val="E2E8F0"/>
                </a:solidFill>
              </a:defRPr>
            </a:pPr>
            <a:r>
              <a:t>• Complete Context: Reps and managers can review doctor data, consent signature, and historical revision logs on one screen.</a:t>
            </a:r>
          </a:p>
          <a:p>
            <a:pPr>
              <a:spcAft>
                <a:spcPts val="600"/>
              </a:spcAft>
              <a:defRPr sz="950">
                <a:solidFill>
                  <a:srgbClr val="E2E8F0"/>
                </a:solidFill>
              </a:defRPr>
            </a:pPr>
            <a:r>
              <a:t>• Audit Integrity: Clear timestamped diffs showing who modified what fields.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a:spAutoFit/>
          </a:bodyPr>
          <a:lstStyle/>
          <a:p>
            <a:pPr>
              <a:defRPr sz="950" b="1">
                <a:solidFill>
                  <a:srgbClr val="38BDF8"/>
                </a:solidFill>
              </a:defRPr>
            </a:pPr>
            <a:r>
              <a:t>DEMO &amp; VALIDATION</a:t>
            </a:r>
          </a:p>
        </p:txBody>
      </p:sp>
      <p:sp>
        <p:nvSpPr>
          <p:cNvPr id="5" name="TextBox 4"/>
          <p:cNvSpPr txBox="1"/>
          <p:nvPr/>
        </p:nvSpPr>
        <p:spPr>
          <a:xfrm>
            <a:off x="731520" y="594360"/>
            <a:ext cx="10515600" cy="594360"/>
          </a:xfrm>
          <a:prstGeom prst="rect">
            <a:avLst/>
          </a:prstGeom>
          <a:noFill/>
        </p:spPr>
        <p:txBody>
          <a:bodyPr wrap="square">
            <a:spAutoFit/>
          </a:bodyPr>
          <a:lstStyle/>
          <a:p>
            <a:pPr>
              <a:defRPr sz="2200" b="1">
                <a:solidFill>
                  <a:srgbClr val="FFFFFF"/>
                </a:solidFill>
              </a:defRPr>
            </a:pPr>
            <a:r>
              <a:t>Test Credentials Matrix &amp; 4-Minute Demo Script</a:t>
            </a:r>
          </a:p>
        </p:txBody>
      </p:sp>
      <p:sp>
        <p:nvSpPr>
          <p:cNvPr id="6" name="TextBox 5"/>
          <p:cNvSpPr txBox="1"/>
          <p:nvPr/>
        </p:nvSpPr>
        <p:spPr>
          <a:xfrm>
            <a:off x="731520" y="1188720"/>
            <a:ext cx="10515600" cy="365760"/>
          </a:xfrm>
          <a:prstGeom prst="rect">
            <a:avLst/>
          </a:prstGeom>
          <a:noFill/>
        </p:spPr>
        <p:txBody>
          <a:bodyPr wrap="square">
            <a:spAutoFit/>
          </a:bodyPr>
          <a:lstStyle/>
          <a:p>
            <a:pPr>
              <a:defRPr sz="1200">
                <a:solidFill>
                  <a:srgbClr val="94A3B8"/>
                </a:solidFill>
              </a:defRPr>
            </a:pPr>
            <a:r>
              <a:t>Ready-to-use live demonstration script showcasing full multi-role workflows</a:t>
            </a:r>
          </a:p>
        </p:txBody>
      </p:sp>
      <p:sp>
        <p:nvSpPr>
          <p:cNvPr id="7" name="Rounded Rectangle 6"/>
          <p:cNvSpPr/>
          <p:nvPr/>
        </p:nvSpPr>
        <p:spPr>
          <a:xfrm>
            <a:off x="731520" y="1737360"/>
            <a:ext cx="10728655" cy="1554480"/>
          </a:xfrm>
          <a:prstGeom prst="roundRect">
            <a:avLst/>
          </a:prstGeom>
          <a:solidFill>
            <a:srgbClr val="1826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20"/>
            <a:ext cx="10362895" cy="411480"/>
          </a:xfrm>
          <a:prstGeom prst="rect">
            <a:avLst/>
          </a:prstGeom>
          <a:noFill/>
        </p:spPr>
        <p:txBody>
          <a:bodyPr wrap="square">
            <a:spAutoFit/>
          </a:bodyPr>
          <a:lstStyle/>
          <a:p>
            <a:pPr>
              <a:defRPr sz="1300" b="1">
                <a:solidFill>
                  <a:srgbClr val="FFFFFF"/>
                </a:solidFill>
              </a:defRPr>
            </a:pPr>
            <a:r>
              <a:t>Verified Live Test Accounts Matrix</a:t>
            </a:r>
          </a:p>
        </p:txBody>
      </p:sp>
      <p:sp>
        <p:nvSpPr>
          <p:cNvPr id="9" name="TextBox 8"/>
          <p:cNvSpPr txBox="1"/>
          <p:nvPr/>
        </p:nvSpPr>
        <p:spPr>
          <a:xfrm>
            <a:off x="914400" y="2148840"/>
            <a:ext cx="10362895" cy="1051560"/>
          </a:xfrm>
          <a:prstGeom prst="rect">
            <a:avLst/>
          </a:prstGeom>
          <a:noFill/>
        </p:spPr>
        <p:txBody>
          <a:bodyPr wrap="square">
            <a:spAutoFit/>
          </a:bodyPr>
          <a:lstStyle/>
          <a:p>
            <a:r>
              <a:rPr b="1" sz="1000">
                <a:solidFill>
                  <a:srgbClr val="38BDF8"/>
                </a:solidFill>
              </a:rPr>
              <a:t>• MedRep (Field Rep):</a:t>
            </a:r>
            <a:r>
              <a:rPr sz="1000">
                <a:solidFill>
                  <a:srgbClr val="E2E8F0"/>
                </a:solidFill>
              </a:rPr>
              <a:t>  arlaneferraren8@gmail.com | Pwd: UEPCS101c! | Program: Bayer / Universal | Scope: Own Submissions &amp; Continuous Resubmit</a:t>
            </a:r>
          </a:p>
          <a:p>
            <a:r>
              <a:rPr b="1" sz="1000">
                <a:solidFill>
                  <a:srgbClr val="38BDF8"/>
                </a:solidFill>
              </a:rPr>
              <a:t>• SFE Specialist (Approver):</a:t>
            </a:r>
            <a:r>
              <a:rPr sz="1000">
                <a:solidFill>
                  <a:srgbClr val="E2E8F0"/>
                </a:solidFill>
              </a:rPr>
              <a:t>  lesantos@pims-marketing.com | Pwd: UEPCS101c! | Scope: SFE Institution Approval Hub, Propose Facility &amp; National Validation</a:t>
            </a:r>
          </a:p>
          <a:p>
            <a:r>
              <a:rPr b="1" sz="1000">
                <a:solidFill>
                  <a:srgbClr val="38BDF8"/>
                </a:solidFill>
              </a:rPr>
              <a:t>• System Administrator:</a:t>
            </a:r>
            <a:r>
              <a:rPr sz="1000">
                <a:solidFill>
                  <a:srgbClr val="E2E8F0"/>
                </a:solidFill>
              </a:rPr>
              <a:t>  jptan@profinsights.biz | Pwd: UEPCS101c! | Universal access across all DocTypes, Masterlists, and Backend Settings</a:t>
            </a:r>
          </a:p>
        </p:txBody>
      </p:sp>
      <p:sp>
        <p:nvSpPr>
          <p:cNvPr id="10" name="Rounded Rectangle 9"/>
          <p:cNvSpPr/>
          <p:nvPr/>
        </p:nvSpPr>
        <p:spPr>
          <a:xfrm>
            <a:off x="731520" y="3429000"/>
            <a:ext cx="10728655" cy="2788920"/>
          </a:xfrm>
          <a:prstGeom prst="roundRect">
            <a:avLst/>
          </a:prstGeom>
          <a:solidFill>
            <a:srgbClr val="18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66160"/>
            <a:ext cx="10362895" cy="411480"/>
          </a:xfrm>
          <a:prstGeom prst="rect">
            <a:avLst/>
          </a:prstGeom>
          <a:noFill/>
        </p:spPr>
        <p:txBody>
          <a:bodyPr wrap="square">
            <a:spAutoFit/>
          </a:bodyPr>
          <a:lstStyle/>
          <a:p>
            <a:pPr>
              <a:defRPr sz="1300" b="1">
                <a:solidFill>
                  <a:srgbClr val="FFFFFF"/>
                </a:solidFill>
              </a:defRPr>
            </a:pPr>
            <a:r>
              <a:t>4-Minute Live Demo Walkthrough</a:t>
            </a:r>
          </a:p>
        </p:txBody>
      </p:sp>
      <p:sp>
        <p:nvSpPr>
          <p:cNvPr id="12" name="TextBox 11"/>
          <p:cNvSpPr txBox="1"/>
          <p:nvPr/>
        </p:nvSpPr>
        <p:spPr>
          <a:xfrm>
            <a:off x="914400" y="3840480"/>
            <a:ext cx="10362895" cy="2286000"/>
          </a:xfrm>
          <a:prstGeom prst="rect">
            <a:avLst/>
          </a:prstGeom>
          <a:noFill/>
        </p:spPr>
        <p:txBody>
          <a:bodyPr wrap="square">
            <a:spAutoFit/>
          </a:bodyPr>
          <a:lstStyle/>
          <a:p>
            <a:pPr>
              <a:spcAft>
                <a:spcPts val="400"/>
              </a:spcAft>
            </a:pPr>
            <a:r>
              <a:rPr b="1" sz="1000">
                <a:solidFill>
                  <a:srgbClr val="10B981"/>
                </a:solidFill>
              </a:rPr>
              <a:t>Step 1 (MedRep Directory Search):</a:t>
            </a:r>
            <a:r>
              <a:rPr sz="1000">
                <a:solidFill>
                  <a:srgbClr val="E2E8F0"/>
                </a:solidFill>
              </a:rPr>
              <a:t>  Log in as MedRep -&gt; open Institution Directory -&gt; click '[= Filter]' -&gt; type 'Bacoor' in City -&gt; counter displays 'Showing 3 of 3,990' -&gt; tap '[Clear Filters]'.</a:t>
            </a:r>
          </a:p>
          <a:p>
            <a:pPr>
              <a:spcAft>
                <a:spcPts val="400"/>
              </a:spcAft>
            </a:pPr>
            <a:r>
              <a:rPr b="1" sz="1000">
                <a:solidFill>
                  <a:srgbClr val="10B981"/>
                </a:solidFill>
              </a:rPr>
              <a:t>Step 2 (Propose Facility &amp; Profiling):</a:t>
            </a:r>
            <a:r>
              <a:rPr sz="1000">
                <a:solidFill>
                  <a:srgbClr val="E2E8F0"/>
                </a:solidFill>
              </a:rPr>
              <a:t>  Open Institution Submission -&gt; tap '+ Propose New Institution' -&gt; submit 'Apex Care Clinic - Test' -&gt; open Doctor Wizard -&gt; select clinic -&gt; amber note appears: 'this institution is not yet approved' -&gt; doctor profiles smoothly!</a:t>
            </a:r>
          </a:p>
          <a:p>
            <a:pPr>
              <a:spcAft>
                <a:spcPts val="400"/>
              </a:spcAft>
            </a:pPr>
            <a:r>
              <a:rPr b="1" sz="1000">
                <a:solidFill>
                  <a:srgbClr val="10B981"/>
                </a:solidFill>
              </a:rPr>
              <a:t>Step 3 (SFE Rejection &amp; Continuous Resubmit):</a:t>
            </a:r>
            <a:r>
              <a:rPr sz="1000">
                <a:solidFill>
                  <a:srgbClr val="E2E8F0"/>
                </a:solidFill>
              </a:rPr>
              <a:t>  Log in as SFE Specialist -&gt; reject with reason 'Missing street address' -&gt; MedRep receives rejection -&gt; taps 'Modify &amp; Resubmit' (no discard button!) -&gt; adds address and resubmits immediately!</a:t>
            </a:r>
          </a:p>
          <a:p>
            <a:pPr>
              <a:spcAft>
                <a:spcPts val="400"/>
              </a:spcAft>
            </a:pPr>
            <a:r>
              <a:rPr b="1" sz="1000">
                <a:solidFill>
                  <a:srgbClr val="10B981"/>
                </a:solidFill>
              </a:rPr>
              <a:t>Step 4 (Existing Doctor Profiling):</a:t>
            </a:r>
            <a:r>
              <a:rPr sz="1000">
                <a:solidFill>
                  <a:srgbClr val="E2E8F0"/>
                </a:solidFill>
              </a:rPr>
              <a:t>  Start profiling -&gt; choose 'Existing HCP' -&gt; pick clinic -&gt; submit -&gt; state is instantly 'PROCESSED' (0 manager waiting)!</a:t>
            </a:r>
          </a:p>
          <a:p>
            <a:pPr>
              <a:spcAft>
                <a:spcPts val="400"/>
              </a:spcAft>
            </a:pPr>
            <a:r>
              <a:rPr b="1" sz="1000">
                <a:solidFill>
                  <a:srgbClr val="10B981"/>
                </a:solidFill>
              </a:rPr>
              <a:t>Step 5 (SFE Facility Approval):</a:t>
            </a:r>
            <a:r>
              <a:rPr sz="1000">
                <a:solidFill>
                  <a:srgbClr val="E2E8F0"/>
                </a:solidFill>
              </a:rPr>
              <a:t>  Log in as SFE Specialist -&gt; open SFE Hub -&gt; review resubmitted clinic -&gt; tap 'Approve' -&gt; clinic dynamically updates to 'this institution is now approved' in green!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a:spAutoFit/>
          </a:bodyPr>
          <a:lstStyle/>
          <a:p>
            <a:pPr>
              <a:defRPr sz="950" b="1">
                <a:solidFill>
                  <a:srgbClr val="38BDF8"/>
                </a:solidFill>
              </a:defRPr>
            </a:pPr>
            <a:r>
              <a:t>RETROSPECTIVE &amp; SUMMARY</a:t>
            </a:r>
          </a:p>
        </p:txBody>
      </p:sp>
      <p:sp>
        <p:nvSpPr>
          <p:cNvPr id="5" name="TextBox 4"/>
          <p:cNvSpPr txBox="1"/>
          <p:nvPr/>
        </p:nvSpPr>
        <p:spPr>
          <a:xfrm>
            <a:off x="731520" y="594360"/>
            <a:ext cx="10515600" cy="594360"/>
          </a:xfrm>
          <a:prstGeom prst="rect">
            <a:avLst/>
          </a:prstGeom>
          <a:noFill/>
        </p:spPr>
        <p:txBody>
          <a:bodyPr wrap="square">
            <a:spAutoFit/>
          </a:bodyPr>
          <a:lstStyle/>
          <a:p>
            <a:pPr>
              <a:defRPr sz="2200" b="1">
                <a:solidFill>
                  <a:srgbClr val="FFFFFF"/>
                </a:solidFill>
              </a:defRPr>
            </a:pPr>
            <a:r>
              <a:t>Summary &amp; Retrospective: Key Takeaways</a:t>
            </a:r>
          </a:p>
        </p:txBody>
      </p:sp>
      <p:sp>
        <p:nvSpPr>
          <p:cNvPr id="6" name="TextBox 5"/>
          <p:cNvSpPr txBox="1"/>
          <p:nvPr/>
        </p:nvSpPr>
        <p:spPr>
          <a:xfrm>
            <a:off x="731520" y="1188720"/>
            <a:ext cx="10515600" cy="365760"/>
          </a:xfrm>
          <a:prstGeom prst="rect">
            <a:avLst/>
          </a:prstGeom>
          <a:noFill/>
        </p:spPr>
        <p:txBody>
          <a:bodyPr wrap="square">
            <a:spAutoFit/>
          </a:bodyPr>
          <a:lstStyle/>
          <a:p>
            <a:pPr>
              <a:defRPr sz="1200">
                <a:solidFill>
                  <a:srgbClr val="94A3B8"/>
                </a:solidFill>
              </a:defRPr>
            </a:pPr>
            <a:r>
              <a:t>Consolidating our past achievements, current sprint health, and future 8-point roadmap</a:t>
            </a:r>
          </a:p>
        </p:txBody>
      </p:sp>
      <p:sp>
        <p:nvSpPr>
          <p:cNvPr id="7" name="Rounded Rectangle 6"/>
          <p:cNvSpPr/>
          <p:nvPr/>
        </p:nvSpPr>
        <p:spPr>
          <a:xfrm>
            <a:off x="731520" y="1737360"/>
            <a:ext cx="3413455" cy="4480560"/>
          </a:xfrm>
          <a:prstGeom prst="roundRect">
            <a:avLst/>
          </a:prstGeom>
          <a:solidFill>
            <a:srgbClr val="18263B"/>
          </a:solidFill>
          <a:ln w="15240">
            <a:solidFill>
              <a:srgbClr val="00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20"/>
            <a:ext cx="3047695" cy="411480"/>
          </a:xfrm>
          <a:prstGeom prst="rect">
            <a:avLst/>
          </a:prstGeom>
          <a:noFill/>
        </p:spPr>
        <p:txBody>
          <a:bodyPr wrap="square">
            <a:spAutoFit/>
          </a:bodyPr>
          <a:lstStyle/>
          <a:p>
            <a:pPr>
              <a:defRPr sz="1300" b="1">
                <a:solidFill>
                  <a:srgbClr val="FFFFFF"/>
                </a:solidFill>
              </a:defRPr>
            </a:pPr>
            <a:r>
              <a:t>Past Foundations (V.0.1.0 - V.0.4.2)</a:t>
            </a:r>
          </a:p>
        </p:txBody>
      </p:sp>
      <p:sp>
        <p:nvSpPr>
          <p:cNvPr id="9" name="TextBox 8"/>
          <p:cNvSpPr txBox="1"/>
          <p:nvPr/>
        </p:nvSpPr>
        <p:spPr>
          <a:xfrm>
            <a:off x="868680" y="2240280"/>
            <a:ext cx="3139135" cy="3749039"/>
          </a:xfrm>
          <a:prstGeom prst="rect">
            <a:avLst/>
          </a:prstGeom>
          <a:noFill/>
        </p:spPr>
        <p:txBody>
          <a:bodyPr wrap="square">
            <a:spAutoFit/>
          </a:bodyPr>
          <a:lstStyle/>
          <a:p>
            <a:pPr>
              <a:spcAft>
                <a:spcPts val="600"/>
              </a:spcAft>
              <a:defRPr sz="1000">
                <a:solidFill>
                  <a:srgbClr val="E2E8F0"/>
                </a:solidFill>
              </a:defRPr>
            </a:pPr>
            <a:r>
              <a:t>• Two-Tier Masterlist eliminating doctor duplicates across divisions.</a:t>
            </a:r>
          </a:p>
          <a:p>
            <a:pPr>
              <a:spcAft>
                <a:spcPts val="600"/>
              </a:spcAft>
              <a:defRPr sz="1000">
                <a:solidFill>
                  <a:srgbClr val="E2E8F0"/>
                </a:solidFill>
              </a:defRPr>
            </a:pPr>
            <a:r>
              <a:t>• 3-Step mobile wizard with touchscreen digital signatures.</a:t>
            </a:r>
          </a:p>
          <a:p>
            <a:pPr>
              <a:spcAft>
                <a:spcPts val="600"/>
              </a:spcAft>
              <a:defRPr sz="1000">
                <a:solidFill>
                  <a:srgbClr val="E2E8F0"/>
                </a:solidFill>
              </a:defRPr>
            </a:pPr>
            <a:r>
              <a:t>• 0-bottleneck instant processing for verified existing doctors.</a:t>
            </a:r>
          </a:p>
          <a:p>
            <a:pPr>
              <a:spcAft>
                <a:spcPts val="600"/>
              </a:spcAft>
              <a:defRPr sz="1000">
                <a:solidFill>
                  <a:srgbClr val="E2E8F0"/>
                </a:solidFill>
              </a:defRPr>
            </a:pPr>
            <a:r>
              <a:t>• District territory scoping and PSGC location resolution.</a:t>
            </a:r>
          </a:p>
        </p:txBody>
      </p:sp>
      <p:sp>
        <p:nvSpPr>
          <p:cNvPr id="10" name="Rounded Rectangle 9"/>
          <p:cNvSpPr/>
          <p:nvPr/>
        </p:nvSpPr>
        <p:spPr>
          <a:xfrm>
            <a:off x="4389120" y="1737360"/>
            <a:ext cx="3413455" cy="4480560"/>
          </a:xfrm>
          <a:prstGeom prst="roundRect">
            <a:avLst/>
          </a:prstGeom>
          <a:solidFill>
            <a:srgbClr val="1826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874520"/>
            <a:ext cx="3047695" cy="411480"/>
          </a:xfrm>
          <a:prstGeom prst="rect">
            <a:avLst/>
          </a:prstGeom>
          <a:noFill/>
        </p:spPr>
        <p:txBody>
          <a:bodyPr wrap="square">
            <a:spAutoFit/>
          </a:bodyPr>
          <a:lstStyle/>
          <a:p>
            <a:pPr>
              <a:defRPr sz="1300" b="1">
                <a:solidFill>
                  <a:srgbClr val="FFFFFF"/>
                </a:solidFill>
              </a:defRPr>
            </a:pPr>
            <a:r>
              <a:t>Present Deliverables (V.0.4.6)</a:t>
            </a:r>
          </a:p>
        </p:txBody>
      </p:sp>
      <p:sp>
        <p:nvSpPr>
          <p:cNvPr id="12" name="TextBox 11"/>
          <p:cNvSpPr txBox="1"/>
          <p:nvPr/>
        </p:nvSpPr>
        <p:spPr>
          <a:xfrm>
            <a:off x="4526280" y="2240280"/>
            <a:ext cx="3139135" cy="3749039"/>
          </a:xfrm>
          <a:prstGeom prst="rect">
            <a:avLst/>
          </a:prstGeom>
          <a:noFill/>
        </p:spPr>
        <p:txBody>
          <a:bodyPr wrap="square">
            <a:spAutoFit/>
          </a:bodyPr>
          <a:lstStyle/>
          <a:p>
            <a:pPr>
              <a:spcAft>
                <a:spcPts val="600"/>
              </a:spcAft>
              <a:defRPr sz="1000">
                <a:solidFill>
                  <a:srgbClr val="E2E8F0"/>
                </a:solidFill>
              </a:defRPr>
            </a:pPr>
            <a:r>
              <a:t>• Institution Non-Deletion Guarantee &amp; continuous modify and resubmit.</a:t>
            </a:r>
          </a:p>
          <a:p>
            <a:pPr>
              <a:spcAft>
                <a:spcPts val="600"/>
              </a:spcAft>
              <a:defRPr sz="1000">
                <a:solidFill>
                  <a:srgbClr val="E2E8F0"/>
                </a:solidFill>
              </a:defRPr>
            </a:pPr>
            <a:r>
              <a:t>• ERPNext Role &amp; Workflow Alignment (fixed HTTP 417 on SFE rejection).</a:t>
            </a:r>
          </a:p>
          <a:p>
            <a:pPr>
              <a:spcAft>
                <a:spcPts val="600"/>
              </a:spcAft>
              <a:defRPr sz="1000">
                <a:solidFill>
                  <a:srgbClr val="E2E8F0"/>
                </a:solidFill>
              </a:defRPr>
            </a:pPr>
            <a:r>
              <a:t>• Rejection remarks display isolation (only truly rejected submissions).</a:t>
            </a:r>
          </a:p>
          <a:p>
            <a:pPr>
              <a:spcAft>
                <a:spcPts val="600"/>
              </a:spcAft>
              <a:defRPr sz="1000">
                <a:solidFill>
                  <a:srgbClr val="E2E8F0"/>
                </a:solidFill>
              </a:defRPr>
            </a:pPr>
            <a:r>
              <a:t>• SFE Specialist facility proposal capability.</a:t>
            </a:r>
          </a:p>
          <a:p>
            <a:pPr>
              <a:spcAft>
                <a:spcPts val="600"/>
              </a:spcAft>
              <a:defRPr sz="1000">
                <a:solidFill>
                  <a:srgbClr val="E2E8F0"/>
                </a:solidFill>
              </a:defRPr>
            </a:pPr>
            <a:r>
              <a:t>• Unlocked pending facility doctor profiling &amp; dynamic approval notes.</a:t>
            </a:r>
          </a:p>
          <a:p>
            <a:pPr>
              <a:spcAft>
                <a:spcPts val="600"/>
              </a:spcAft>
              <a:defRPr sz="1000">
                <a:solidFill>
                  <a:srgbClr val="E2E8F0"/>
                </a:solidFill>
              </a:defRPr>
            </a:pPr>
            <a:r>
              <a:t>• 0 compiler errors and verified 56.6 MB release build.</a:t>
            </a:r>
          </a:p>
        </p:txBody>
      </p:sp>
      <p:sp>
        <p:nvSpPr>
          <p:cNvPr id="13" name="Rounded Rectangle 12"/>
          <p:cNvSpPr/>
          <p:nvPr/>
        </p:nvSpPr>
        <p:spPr>
          <a:xfrm>
            <a:off x="8046720" y="1737360"/>
            <a:ext cx="3413455" cy="4480560"/>
          </a:xfrm>
          <a:prstGeom prst="roundRect">
            <a:avLst/>
          </a:prstGeom>
          <a:solidFill>
            <a:srgbClr val="18263B"/>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74520"/>
            <a:ext cx="3047695" cy="411480"/>
          </a:xfrm>
          <a:prstGeom prst="rect">
            <a:avLst/>
          </a:prstGeom>
          <a:noFill/>
        </p:spPr>
        <p:txBody>
          <a:bodyPr wrap="square">
            <a:spAutoFit/>
          </a:bodyPr>
          <a:lstStyle/>
          <a:p>
            <a:pPr>
              <a:defRPr sz="1300" b="1">
                <a:solidFill>
                  <a:srgbClr val="FFFFFF"/>
                </a:solidFill>
              </a:defRPr>
            </a:pPr>
            <a:r>
              <a:t>Future Enhancements (The 8 Suggestions)</a:t>
            </a:r>
          </a:p>
        </p:txBody>
      </p:sp>
      <p:sp>
        <p:nvSpPr>
          <p:cNvPr id="15" name="TextBox 14"/>
          <p:cNvSpPr txBox="1"/>
          <p:nvPr/>
        </p:nvSpPr>
        <p:spPr>
          <a:xfrm>
            <a:off x="8183880" y="2240280"/>
            <a:ext cx="3139135" cy="3749039"/>
          </a:xfrm>
          <a:prstGeom prst="rect">
            <a:avLst/>
          </a:prstGeom>
          <a:noFill/>
        </p:spPr>
        <p:txBody>
          <a:bodyPr wrap="square">
            <a:spAutoFit/>
          </a:bodyPr>
          <a:lstStyle/>
          <a:p>
            <a:pPr>
              <a:spcAft>
                <a:spcPts val="600"/>
              </a:spcAft>
              <a:defRPr sz="1000">
                <a:solidFill>
                  <a:srgbClr val="E2E8F0"/>
                </a:solidFill>
              </a:defRPr>
            </a:pPr>
            <a:r>
              <a:t>• 1. Consent tab positioned last (Doctor -&gt; Questionnaire -&gt; Consent).</a:t>
            </a:r>
          </a:p>
          <a:p>
            <a:pPr>
              <a:spcAft>
                <a:spcPts val="600"/>
              </a:spcAft>
              <a:defRPr sz="1000">
                <a:solidFill>
                  <a:srgbClr val="E2E8F0"/>
                </a:solidFill>
              </a:defRPr>
            </a:pPr>
            <a:r>
              <a:t>• 2. 'Others' tab hidden to streamline interface.</a:t>
            </a:r>
          </a:p>
          <a:p>
            <a:pPr>
              <a:spcAft>
                <a:spcPts val="600"/>
              </a:spcAft>
              <a:defRPr sz="1000">
                <a:solidFill>
                  <a:srgbClr val="E2E8F0"/>
                </a:solidFill>
              </a:defRPr>
            </a:pPr>
            <a:r>
              <a:t>• 3. Geolocation active all the time for on-site validation.</a:t>
            </a:r>
          </a:p>
          <a:p>
            <a:pPr>
              <a:spcAft>
                <a:spcPts val="600"/>
              </a:spcAft>
              <a:defRPr sz="1000">
                <a:solidFill>
                  <a:srgbClr val="E2E8F0"/>
                </a:solidFill>
              </a:defRPr>
            </a:pPr>
            <a:r>
              <a:t>• 4. Mandatory field legend in Doctor Information.</a:t>
            </a:r>
          </a:p>
          <a:p>
            <a:pPr>
              <a:spcAft>
                <a:spcPts val="600"/>
              </a:spcAft>
              <a:defRPr sz="1000">
                <a:solidFill>
                  <a:srgbClr val="E2E8F0"/>
                </a:solidFill>
              </a:defRPr>
            </a:pPr>
            <a:r>
              <a:t>• 5. Specialization &amp; Workplace mandatory with asterisk (*).</a:t>
            </a:r>
          </a:p>
          <a:p>
            <a:pPr>
              <a:spcAft>
                <a:spcPts val="600"/>
              </a:spcAft>
              <a:defRPr sz="1000">
                <a:solidFill>
                  <a:srgbClr val="E2E8F0"/>
                </a:solidFill>
              </a:defRPr>
            </a:pPr>
            <a:r>
              <a:t>• 6. Pop-up modal alerting reps to lacking required fields.</a:t>
            </a:r>
          </a:p>
          <a:p>
            <a:pPr>
              <a:spcAft>
                <a:spcPts val="600"/>
              </a:spcAft>
              <a:defRPr sz="1000">
                <a:solidFill>
                  <a:srgbClr val="E2E8F0"/>
                </a:solidFill>
              </a:defRPr>
            </a:pPr>
            <a:r>
              <a:t>• 7. Real-time Duplicate Detection across PRC and names.</a:t>
            </a:r>
          </a:p>
          <a:p>
            <a:pPr>
              <a:spcAft>
                <a:spcPts val="600"/>
              </a:spcAft>
              <a:defRPr sz="1000">
                <a:solidFill>
                  <a:srgbClr val="E2E8F0"/>
                </a:solidFill>
              </a:defRPr>
            </a:pPr>
            <a:r>
              <a:t>• 8. 'Changes' audit trail placed directly below Consent.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